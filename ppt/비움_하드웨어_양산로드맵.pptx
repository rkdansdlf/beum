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1 대본
비움의 현재 하드웨어는 완제품을 전제로 만든 것이 아니라, 핵심 기능을 빠르게 검증하기 위한 시연형 설계입니다. 라즈베리파이와 범용 카메라를 사용한 이유는 저비용으로 제작할 수 있고, 카메라 영상에서 AI가 빗물받이와 막힘 영역을 판단한 뒤 GPS 위치와 함께 서버로 전송하는 전체 흐름을 빠르게 확인할 수 있기 때문입니다.
이 단계에서는 탐지하고, 위치를 기록하고, 결과를 서버로 전달할 수 있는지를 먼저 검증했습니다. 반면 실제 야외 환경에서는 차량이나 사람에 의한 시야 가림, 우천과 야간의 화질 저하, 전원·방수·통신 문제로 인해 한계가 생길 수 있습니다. 따라서 현재 구조는 완제품 수준을 목표로 한 것이 아니라, 다음 단계의 설계를 위한 데이터와 검증 결과를 확보하기 위한 선택이었다고 설명할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슬라이드 2 대본
두 번째 슬라이드는 실제로 제작한 3D 프린터 케이스 모델링입니다. 미래의 완제품을 가정한 이미지가 아니라, 현재 비움 시연 장치에서 카메라와 전자부를 하나의 케이스에 배치하고 실제 장착 가능성을 확인한 결과입니다.
추후에는 세 단계로 고도화합니다. 첫째, 카메라 각도와 사각지대를 점검하고 수위 센서를 연계해 영상이 가려진 상황도 점검 필요 상태로 구분합니다. 둘째, 3D 프린터 출력 케이스를 출발점으로 전용 하우징, 전원 보호, 통신, watchdog을 보완합니다. 셋째, 장기 현장 실증과 유지보수, 인증과 양산성을 검증합니다. 중요한 점은 현재 모델링을 버리는 것이 아니라, 이 시연 결과를 기반으로 실제 현장형 제품으로 단계적으로 발전시키는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8"/>
        </a:solidFill>
      </p:bgPr>
    </p:bg>
    <p:spTree>
      <p:nvGrpSpPr>
        <p:cNvPr id="1" name=""/>
        <p:cNvGrpSpPr/>
        <p:nvPr/>
      </p:nvGrpSpPr>
      <p:grpSpPr>
        <a:xfrm>
          <a:off x="0" y="0"/>
          <a:ext cx="0" cy="0"/>
          <a:chOff x="0" y="0"/>
          <a:chExt cx="0" cy="0"/>
        </a:xfrm>
      </p:grpSpPr>
      <p:sp>
        <p:nvSpPr>
          <p:cNvPr id="2" name="Text 0"/>
          <p:cNvSpPr/>
          <p:nvPr/>
        </p:nvSpPr>
        <p:spPr>
          <a:xfrm>
            <a:off x="566928" y="320040"/>
            <a:ext cx="3840480" cy="164592"/>
          </a:xfrm>
          <a:prstGeom prst="rect">
            <a:avLst/>
          </a:prstGeom>
          <a:noFill/>
          <a:ln/>
        </p:spPr>
        <p:txBody>
          <a:bodyPr wrap="square" lIns="0" tIns="0" rIns="0" bIns="0" rtlCol="0" anchor="ctr">
            <a:normAutofit/>
          </a:bodyPr>
          <a:lstStyle/>
          <a:p>
            <a:pPr indent="0" marL="0">
              <a:buNone/>
            </a:pPr>
            <a:r>
              <a:rPr lang="ko-KR" altLang="en-US" sz="900" b="1" spc="130" kern="0" dirty="0">
                <a:solidFill>
                  <a:srgbClr val="9DB7D4"/>
                </a:solidFill>
                <a:latin typeface="Apple SD Gothic Neo" pitchFamily="34" charset="0"/>
                <a:ea typeface="Apple SD Gothic Neo" pitchFamily="34" charset="-122"/>
                <a:cs typeface="Apple SD Gothic Neo" pitchFamily="34" charset="-120"/>
              </a:rPr>
              <a:t>HARDWARE STRATEGY</a:t>
            </a:r>
            <a:endParaRPr lang="ko-KR" sz="900" dirty="0"/>
          </a:p>
        </p:txBody>
      </p:sp>
      <p:sp>
        <p:nvSpPr>
          <p:cNvPr id="3" name="Text 1"/>
          <p:cNvSpPr/>
          <p:nvPr/>
        </p:nvSpPr>
        <p:spPr>
          <a:xfrm>
            <a:off x="10378440" y="320040"/>
            <a:ext cx="1234440" cy="164592"/>
          </a:xfrm>
          <a:prstGeom prst="rect">
            <a:avLst/>
          </a:prstGeom>
          <a:noFill/>
          <a:ln/>
        </p:spPr>
        <p:txBody>
          <a:bodyPr wrap="square" lIns="0" tIns="0" rIns="0" bIns="0" rtlCol="0" anchor="ctr">
            <a:normAutofit/>
          </a:bodyPr>
          <a:lstStyle/>
          <a:p>
            <a:pPr algn="r" indent="0" marL="0">
              <a:buNone/>
            </a:pPr>
            <a:r>
              <a:rPr lang="ko-KR" altLang="en-US" sz="850" dirty="0">
                <a:solidFill>
                  <a:srgbClr val="9DB7D4"/>
                </a:solidFill>
                <a:latin typeface="Apple SD Gothic Neo" pitchFamily="34" charset="0"/>
                <a:ea typeface="Apple SD Gothic Neo" pitchFamily="34" charset="-122"/>
                <a:cs typeface="Apple SD Gothic Neo" pitchFamily="34" charset="-120"/>
              </a:rPr>
              <a:t>BEUM  /  01</a:t>
            </a:r>
            <a:endParaRPr lang="ko-KR" sz="850" dirty="0"/>
          </a:p>
        </p:txBody>
      </p:sp>
      <p:sp>
        <p:nvSpPr>
          <p:cNvPr id="4" name="Shape 2"/>
          <p:cNvSpPr/>
          <p:nvPr/>
        </p:nvSpPr>
        <p:spPr>
          <a:xfrm>
            <a:off x="10789920" y="-365760"/>
            <a:ext cx="1645920" cy="1645920"/>
          </a:xfrm>
          <a:prstGeom prst="ellipse">
            <a:avLst/>
          </a:prstGeom>
          <a:solidFill>
            <a:srgbClr val="153451">
              <a:alpha val="55000"/>
            </a:srgbClr>
          </a:solidFill>
          <a:ln w="12700">
            <a:solidFill>
              <a:srgbClr val="153451">
                <a:alpha val="0"/>
              </a:srgbClr>
            </a:solidFill>
            <a:prstDash val="solid"/>
          </a:ln>
        </p:spPr>
      </p:sp>
      <p:sp>
        <p:nvSpPr>
          <p:cNvPr id="5" name="Shape 3"/>
          <p:cNvSpPr/>
          <p:nvPr/>
        </p:nvSpPr>
        <p:spPr>
          <a:xfrm>
            <a:off x="9784080" y="6263640"/>
            <a:ext cx="2194560" cy="2194560"/>
          </a:xfrm>
          <a:prstGeom prst="ellipse">
            <a:avLst/>
          </a:prstGeom>
          <a:solidFill>
            <a:srgbClr val="153451">
              <a:alpha val="55000"/>
            </a:srgbClr>
          </a:solidFill>
          <a:ln w="12700">
            <a:solidFill>
              <a:srgbClr val="153451">
                <a:alpha val="0"/>
              </a:srgbClr>
            </a:solidFill>
            <a:prstDash val="solid"/>
          </a:ln>
        </p:spPr>
      </p:sp>
      <p:sp>
        <p:nvSpPr>
          <p:cNvPr id="6" name="Shape 4"/>
          <p:cNvSpPr/>
          <p:nvPr/>
        </p:nvSpPr>
        <p:spPr>
          <a:xfrm>
            <a:off x="45720" y="5989320"/>
            <a:ext cx="731520" cy="731520"/>
          </a:xfrm>
          <a:prstGeom prst="ellipse">
            <a:avLst/>
          </a:prstGeom>
          <a:solidFill>
            <a:srgbClr val="1A456A">
              <a:alpha val="55000"/>
            </a:srgbClr>
          </a:solidFill>
          <a:ln w="12700">
            <a:solidFill>
              <a:srgbClr val="1A456A">
                <a:alpha val="0"/>
              </a:srgbClr>
            </a:solidFill>
            <a:prstDash val="solid"/>
          </a:ln>
        </p:spPr>
      </p:sp>
      <p:sp>
        <p:nvSpPr>
          <p:cNvPr id="7" name="Text 5"/>
          <p:cNvSpPr/>
          <p:nvPr/>
        </p:nvSpPr>
        <p:spPr>
          <a:xfrm>
            <a:off x="566928" y="896112"/>
            <a:ext cx="5806440" cy="896112"/>
          </a:xfrm>
          <a:prstGeom prst="rect">
            <a:avLst/>
          </a:prstGeom>
          <a:noFill/>
          <a:ln/>
        </p:spPr>
        <p:txBody>
          <a:bodyPr wrap="square" lIns="0" tIns="0" rIns="0" bIns="0" rtlCol="0" anchor="t">
            <a:normAutofit/>
          </a:bodyPr>
          <a:lstStyle/>
          <a:p>
            <a:pPr indent="0" marL="0">
              <a:buNone/>
            </a:pPr>
            <a:r>
              <a:rPr lang="ko-KR" altLang="en-US" sz="2800" b="1" dirty="0">
                <a:solidFill>
                  <a:srgbClr val="FFFFFF"/>
                </a:solidFill>
                <a:latin typeface="Apple SD Gothic Neo" pitchFamily="34" charset="0"/>
                <a:ea typeface="Apple SD Gothic Neo" pitchFamily="34" charset="-122"/>
                <a:cs typeface="Apple SD Gothic Neo" pitchFamily="34" charset="-120"/>
              </a:rPr>
              <a:t>시연을 위한 선택,</a:t>
            </a:r>
            <a:endParaRPr lang="ko-KR" sz="2800" dirty="0"/>
          </a:p>
          <a:p>
            <a:pPr indent="0" marL="0">
              <a:buNone/>
            </a:pPr>
            <a:r>
              <a:rPr lang="ko-KR" altLang="en-US" sz="2800" b="1" dirty="0">
                <a:solidFill>
                  <a:srgbClr val="FFFFFF"/>
                </a:solidFill>
                <a:latin typeface="Apple SD Gothic Neo" pitchFamily="34" charset="0"/>
                <a:ea typeface="Apple SD Gothic Neo" pitchFamily="34" charset="-122"/>
                <a:cs typeface="Apple SD Gothic Neo" pitchFamily="34" charset="-120"/>
              </a:rPr>
              <a:t>현장을 위한 다음 단계</a:t>
            </a:r>
            <a:endParaRPr lang="ko-KR" sz="2800" dirty="0"/>
          </a:p>
        </p:txBody>
      </p:sp>
      <p:sp>
        <p:nvSpPr>
          <p:cNvPr id="8" name="Text 6"/>
          <p:cNvSpPr/>
          <p:nvPr/>
        </p:nvSpPr>
        <p:spPr>
          <a:xfrm>
            <a:off x="594360" y="1993392"/>
            <a:ext cx="5120640" cy="475488"/>
          </a:xfrm>
          <a:prstGeom prst="rect">
            <a:avLst/>
          </a:prstGeom>
          <a:noFill/>
          <a:ln/>
        </p:spPr>
        <p:txBody>
          <a:bodyPr wrap="square" lIns="0" tIns="0" rIns="0" bIns="0" rtlCol="0" anchor="t">
            <a:normAutofit/>
          </a:bodyPr>
          <a:lstStyle/>
          <a:p>
            <a:pPr indent="0" marL="0">
              <a:buNone/>
            </a:pPr>
            <a:r>
              <a:rPr lang="ko-KR" altLang="en-US" sz="1400" dirty="0">
                <a:solidFill>
                  <a:srgbClr val="C9D8E8"/>
                </a:solidFill>
                <a:latin typeface="Apple SD Gothic Neo" pitchFamily="34" charset="0"/>
                <a:ea typeface="Apple SD Gothic Neo" pitchFamily="34" charset="-122"/>
                <a:cs typeface="Apple SD Gothic Neo" pitchFamily="34" charset="-120"/>
              </a:rPr>
              <a:t>비움의 하드웨어는 “완제품”보다</a:t>
            </a:r>
            <a:endParaRPr lang="ko-KR" sz="1400" dirty="0"/>
          </a:p>
          <a:p>
            <a:pPr indent="0" marL="0">
              <a:buNone/>
            </a:pPr>
            <a:r>
              <a:rPr lang="ko-KR" altLang="en-US" sz="1400" dirty="0">
                <a:solidFill>
                  <a:srgbClr val="C9D8E8"/>
                </a:solidFill>
                <a:latin typeface="Apple SD Gothic Neo" pitchFamily="34" charset="0"/>
                <a:ea typeface="Apple SD Gothic Neo" pitchFamily="34" charset="-122"/>
                <a:cs typeface="Apple SD Gothic Neo" pitchFamily="34" charset="-120"/>
              </a:rPr>
              <a:t>“가능성 검증”을 먼저 목표로 설계했습니다.</a:t>
            </a:r>
            <a:endParaRPr lang="ko-KR" sz="1400" dirty="0"/>
          </a:p>
        </p:txBody>
      </p:sp>
      <p:sp>
        <p:nvSpPr>
          <p:cNvPr id="9" name="Shape 7"/>
          <p:cNvSpPr/>
          <p:nvPr/>
        </p:nvSpPr>
        <p:spPr>
          <a:xfrm>
            <a:off x="603504" y="2871216"/>
            <a:ext cx="530352" cy="0"/>
          </a:xfrm>
          <a:prstGeom prst="line">
            <a:avLst/>
          </a:prstGeom>
          <a:noFill/>
          <a:ln w="12700">
            <a:solidFill>
              <a:srgbClr val="F2B544"/>
            </a:solidFill>
            <a:prstDash val="solid"/>
          </a:ln>
        </p:spPr>
      </p:sp>
      <p:sp>
        <p:nvSpPr>
          <p:cNvPr id="10" name="Text 8"/>
          <p:cNvSpPr/>
          <p:nvPr/>
        </p:nvSpPr>
        <p:spPr>
          <a:xfrm>
            <a:off x="1298448" y="2761488"/>
            <a:ext cx="3840480" cy="237744"/>
          </a:xfrm>
          <a:prstGeom prst="rect">
            <a:avLst/>
          </a:prstGeom>
          <a:noFill/>
          <a:ln/>
        </p:spPr>
        <p:txBody>
          <a:bodyPr wrap="square" lIns="0" tIns="0" rIns="0" bIns="0" rtlCol="0" anchor="ctr">
            <a:normAutofit/>
          </a:bodyPr>
          <a:lstStyle/>
          <a:p>
            <a:pPr indent="0" marL="0">
              <a:buNone/>
            </a:pPr>
            <a:r>
              <a:rPr lang="ko-KR" altLang="en-US" sz="1300" b="1" dirty="0">
                <a:solidFill>
                  <a:srgbClr val="F2B544"/>
                </a:solidFill>
                <a:latin typeface="Apple SD Gothic Neo" pitchFamily="34" charset="0"/>
                <a:ea typeface="Apple SD Gothic Neo" pitchFamily="34" charset="-122"/>
                <a:cs typeface="Apple SD Gothic Neo" pitchFamily="34" charset="-120"/>
              </a:rPr>
              <a:t>빠르게 만들고, 실제로 확인한다.</a:t>
            </a:r>
            <a:endParaRPr lang="ko-KR" sz="1300" dirty="0"/>
          </a:p>
        </p:txBody>
      </p:sp>
      <p:sp>
        <p:nvSpPr>
          <p:cNvPr id="11" name="Text 9"/>
          <p:cNvSpPr/>
          <p:nvPr/>
        </p:nvSpPr>
        <p:spPr>
          <a:xfrm>
            <a:off x="603504" y="5138928"/>
            <a:ext cx="1920240" cy="164592"/>
          </a:xfrm>
          <a:prstGeom prst="rect">
            <a:avLst/>
          </a:prstGeom>
          <a:noFill/>
          <a:ln/>
        </p:spPr>
        <p:txBody>
          <a:bodyPr wrap="square" lIns="0" tIns="0" rIns="0" bIns="0" rtlCol="0" anchor="ctr">
            <a:normAutofit/>
          </a:bodyPr>
          <a:lstStyle/>
          <a:p>
            <a:pPr indent="0" marL="0">
              <a:buNone/>
            </a:pPr>
            <a:r>
              <a:rPr lang="ko-KR" altLang="en-US" sz="950" b="1" dirty="0">
                <a:solidFill>
                  <a:srgbClr val="9DB7D4"/>
                </a:solidFill>
                <a:latin typeface="Apple SD Gothic Neo" pitchFamily="34" charset="0"/>
                <a:ea typeface="Apple SD Gothic Neo" pitchFamily="34" charset="-122"/>
                <a:cs typeface="Apple SD Gothic Neo" pitchFamily="34" charset="-120"/>
              </a:rPr>
              <a:t>시연 단계에서 검증한 범위</a:t>
            </a:r>
            <a:endParaRPr lang="ko-KR" sz="950" dirty="0"/>
          </a:p>
        </p:txBody>
      </p:sp>
      <p:sp>
        <p:nvSpPr>
          <p:cNvPr id="12" name="Text 10"/>
          <p:cNvSpPr/>
          <p:nvPr/>
        </p:nvSpPr>
        <p:spPr>
          <a:xfrm>
            <a:off x="603504" y="5440680"/>
            <a:ext cx="4754880" cy="301752"/>
          </a:xfrm>
          <a:prstGeom prst="rect">
            <a:avLst/>
          </a:prstGeom>
          <a:noFill/>
          <a:ln/>
        </p:spPr>
        <p:txBody>
          <a:bodyPr wrap="square" lIns="0" tIns="0" rIns="0" bIns="0" rtlCol="0" anchor="ctr">
            <a:normAutofit/>
          </a:bodyPr>
          <a:lstStyle/>
          <a:p>
            <a:pPr indent="0" marL="0">
              <a:buNone/>
            </a:pPr>
            <a:r>
              <a:rPr lang="ko-KR" altLang="en-US" sz="1700" b="1" dirty="0">
                <a:solidFill>
                  <a:srgbClr val="FFFFFF"/>
                </a:solidFill>
                <a:latin typeface="Apple SD Gothic Neo" pitchFamily="34" charset="0"/>
                <a:ea typeface="Apple SD Gothic Neo" pitchFamily="34" charset="-122"/>
                <a:cs typeface="Apple SD Gothic Neo" pitchFamily="34" charset="-120"/>
              </a:rPr>
              <a:t>탐지  →  위치 기록  →  서버 전송</a:t>
            </a:r>
            <a:endParaRPr lang="ko-KR" sz="1700" dirty="0"/>
          </a:p>
        </p:txBody>
      </p:sp>
      <p:sp>
        <p:nvSpPr>
          <p:cNvPr id="13" name="Text 11"/>
          <p:cNvSpPr/>
          <p:nvPr/>
        </p:nvSpPr>
        <p:spPr>
          <a:xfrm>
            <a:off x="603504" y="5897880"/>
            <a:ext cx="5120640" cy="201168"/>
          </a:xfrm>
          <a:prstGeom prst="rect">
            <a:avLst/>
          </a:prstGeom>
          <a:noFill/>
          <a:ln/>
        </p:spPr>
        <p:txBody>
          <a:bodyPr wrap="square" lIns="0" tIns="0" rIns="0" bIns="0" rtlCol="0" anchor="ctr">
            <a:normAutofit/>
          </a:bodyPr>
          <a:lstStyle/>
          <a:p>
            <a:pPr indent="0" marL="0">
              <a:buNone/>
            </a:pPr>
            <a:r>
              <a:rPr lang="ko-KR" altLang="en-US" sz="980" dirty="0">
                <a:solidFill>
                  <a:srgbClr val="9DB7D4"/>
                </a:solidFill>
                <a:latin typeface="Apple SD Gothic Neo" pitchFamily="34" charset="0"/>
                <a:ea typeface="Apple SD Gothic Neo" pitchFamily="34" charset="-122"/>
                <a:cs typeface="Apple SD Gothic Neo" pitchFamily="34" charset="-120"/>
              </a:rPr>
              <a:t>범용 부품으로 기능 흐름과 현장 데이터를 먼저 확보했습니다.</a:t>
            </a:r>
            <a:endParaRPr lang="ko-KR" sz="980" dirty="0"/>
          </a:p>
        </p:txBody>
      </p:sp>
      <p:sp>
        <p:nvSpPr>
          <p:cNvPr id="14" name="Shape 12"/>
          <p:cNvSpPr/>
          <p:nvPr/>
        </p:nvSpPr>
        <p:spPr>
          <a:xfrm>
            <a:off x="6446520" y="658368"/>
            <a:ext cx="5193792" cy="5559552"/>
          </a:xfrm>
          <a:prstGeom prst="roundRect">
            <a:avLst>
              <a:gd name="adj" fmla="val 1761"/>
            </a:avLst>
          </a:prstGeom>
          <a:solidFill>
            <a:srgbClr val="FFFFFF"/>
          </a:solidFill>
          <a:ln w="12700">
            <a:solidFill>
              <a:srgbClr val="FFFFFF">
                <a:alpha val="0"/>
              </a:srgbClr>
            </a:solidFill>
            <a:prstDash val="solid"/>
          </a:ln>
        </p:spPr>
      </p:sp>
      <p:sp>
        <p:nvSpPr>
          <p:cNvPr id="15" name="Text 13"/>
          <p:cNvSpPr/>
          <p:nvPr/>
        </p:nvSpPr>
        <p:spPr>
          <a:xfrm>
            <a:off x="6858000" y="1024128"/>
            <a:ext cx="1828800" cy="201168"/>
          </a:xfrm>
          <a:prstGeom prst="rect">
            <a:avLst/>
          </a:prstGeom>
          <a:noFill/>
          <a:ln/>
        </p:spPr>
        <p:txBody>
          <a:bodyPr wrap="square" lIns="0" tIns="0" rIns="0" bIns="0" rtlCol="0" anchor="ctr">
            <a:normAutofit/>
          </a:bodyPr>
          <a:lstStyle/>
          <a:p>
            <a:pPr indent="0" marL="0">
              <a:buNone/>
            </a:pPr>
            <a:r>
              <a:rPr lang="ko-KR" altLang="en-US" sz="1000" b="1" dirty="0">
                <a:solidFill>
                  <a:srgbClr val="2B77E5"/>
                </a:solidFill>
                <a:latin typeface="Apple SD Gothic Neo" pitchFamily="34" charset="0"/>
                <a:ea typeface="Apple SD Gothic Neo" pitchFamily="34" charset="-122"/>
                <a:cs typeface="Apple SD Gothic Neo" pitchFamily="34" charset="-120"/>
              </a:rPr>
              <a:t>현재 시연 구성</a:t>
            </a:r>
            <a:endParaRPr lang="ko-KR" sz="1000" dirty="0"/>
          </a:p>
        </p:txBody>
      </p:sp>
      <p:sp>
        <p:nvSpPr>
          <p:cNvPr id="16" name="Text 14"/>
          <p:cNvSpPr/>
          <p:nvPr/>
        </p:nvSpPr>
        <p:spPr>
          <a:xfrm>
            <a:off x="6858000" y="1307592"/>
            <a:ext cx="4023360" cy="310896"/>
          </a:xfrm>
          <a:prstGeom prst="rect">
            <a:avLst/>
          </a:prstGeom>
          <a:noFill/>
          <a:ln/>
        </p:spPr>
        <p:txBody>
          <a:bodyPr wrap="square" lIns="0" tIns="0" rIns="0" bIns="0" rtlCol="0" anchor="ctr">
            <a:normAutofit/>
          </a:bodyPr>
          <a:lstStyle/>
          <a:p>
            <a:pPr indent="0" marL="0">
              <a:buNone/>
            </a:pPr>
            <a:r>
              <a:rPr lang="ko-KR" altLang="en-US" sz="1700" b="1" dirty="0">
                <a:solidFill>
                  <a:srgbClr val="0D2138"/>
                </a:solidFill>
                <a:latin typeface="Apple SD Gothic Neo" pitchFamily="34" charset="0"/>
                <a:ea typeface="Apple SD Gothic Neo" pitchFamily="34" charset="-122"/>
                <a:cs typeface="Apple SD Gothic Neo" pitchFamily="34" charset="-120"/>
              </a:rPr>
              <a:t>저비용·빠른 제작·기능 검증</a:t>
            </a:r>
            <a:endParaRPr lang="ko-KR" sz="1700" dirty="0"/>
          </a:p>
        </p:txBody>
      </p:sp>
      <p:sp>
        <p:nvSpPr>
          <p:cNvPr id="17" name="Shape 15"/>
          <p:cNvSpPr/>
          <p:nvPr/>
        </p:nvSpPr>
        <p:spPr>
          <a:xfrm>
            <a:off x="6858000" y="1901952"/>
            <a:ext cx="4315968" cy="0"/>
          </a:xfrm>
          <a:prstGeom prst="line">
            <a:avLst/>
          </a:prstGeom>
          <a:noFill/>
          <a:ln w="12700">
            <a:solidFill>
              <a:srgbClr val="DCE4ED"/>
            </a:solidFill>
            <a:prstDash val="solid"/>
          </a:ln>
        </p:spPr>
      </p:sp>
      <p:sp>
        <p:nvSpPr>
          <p:cNvPr id="18" name="Shape 16"/>
          <p:cNvSpPr/>
          <p:nvPr/>
        </p:nvSpPr>
        <p:spPr>
          <a:xfrm>
            <a:off x="6876288" y="2286000"/>
            <a:ext cx="1005840" cy="1033272"/>
          </a:xfrm>
          <a:prstGeom prst="roundRect">
            <a:avLst>
              <a:gd name="adj" fmla="val 9091"/>
            </a:avLst>
          </a:prstGeom>
          <a:solidFill>
            <a:srgbClr val="E8F1FF"/>
          </a:solidFill>
          <a:ln w="12700">
            <a:solidFill>
              <a:srgbClr val="E8F1FF">
                <a:alpha val="0"/>
              </a:srgbClr>
            </a:solidFill>
            <a:prstDash val="solid"/>
          </a:ln>
        </p:spPr>
      </p:sp>
      <p:sp>
        <p:nvSpPr>
          <p:cNvPr id="19" name="Shape 17"/>
          <p:cNvSpPr/>
          <p:nvPr/>
        </p:nvSpPr>
        <p:spPr>
          <a:xfrm>
            <a:off x="7150608" y="2551176"/>
            <a:ext cx="384048" cy="256032"/>
          </a:xfrm>
          <a:prstGeom prst="roundRect">
            <a:avLst>
              <a:gd name="adj" fmla="val 35714"/>
            </a:avLst>
          </a:prstGeom>
          <a:solidFill>
            <a:srgbClr val="2B77E5"/>
          </a:solidFill>
          <a:ln w="12700">
            <a:solidFill>
              <a:srgbClr val="2B77E5">
                <a:alpha val="0"/>
              </a:srgbClr>
            </a:solidFill>
            <a:prstDash val="solid"/>
          </a:ln>
        </p:spPr>
      </p:sp>
      <p:sp>
        <p:nvSpPr>
          <p:cNvPr id="20" name="Shape 18"/>
          <p:cNvSpPr/>
          <p:nvPr/>
        </p:nvSpPr>
        <p:spPr>
          <a:xfrm>
            <a:off x="7287768" y="2606040"/>
            <a:ext cx="128016" cy="128016"/>
          </a:xfrm>
          <a:prstGeom prst="ellipse">
            <a:avLst/>
          </a:prstGeom>
          <a:solidFill>
            <a:srgbClr val="FFFFFF"/>
          </a:solidFill>
          <a:ln w="12700">
            <a:solidFill>
              <a:srgbClr val="FFFFFF">
                <a:alpha val="0"/>
              </a:srgbClr>
            </a:solidFill>
            <a:prstDash val="solid"/>
          </a:ln>
        </p:spPr>
      </p:sp>
      <p:sp>
        <p:nvSpPr>
          <p:cNvPr id="21" name="Shape 19"/>
          <p:cNvSpPr/>
          <p:nvPr/>
        </p:nvSpPr>
        <p:spPr>
          <a:xfrm>
            <a:off x="7534656" y="2615184"/>
            <a:ext cx="91440" cy="0"/>
          </a:xfrm>
          <a:prstGeom prst="line">
            <a:avLst/>
          </a:prstGeom>
          <a:noFill/>
          <a:ln w="12700">
            <a:solidFill>
              <a:srgbClr val="2B77E5"/>
            </a:solidFill>
            <a:prstDash val="solid"/>
          </a:ln>
        </p:spPr>
      </p:sp>
      <p:sp>
        <p:nvSpPr>
          <p:cNvPr id="22" name="Text 20"/>
          <p:cNvSpPr/>
          <p:nvPr/>
        </p:nvSpPr>
        <p:spPr>
          <a:xfrm>
            <a:off x="6931152" y="2907792"/>
            <a:ext cx="896112" cy="164592"/>
          </a:xfrm>
          <a:prstGeom prst="rect">
            <a:avLst/>
          </a:prstGeom>
          <a:noFill/>
          <a:ln/>
        </p:spPr>
        <p:txBody>
          <a:bodyPr wrap="square" lIns="0" tIns="0" rIns="0" bIns="0" rtlCol="0" anchor="ctr">
            <a:normAutofit/>
          </a:bodyPr>
          <a:lstStyle/>
          <a:p>
            <a:pPr algn="ctr" indent="0" marL="0">
              <a:buNone/>
            </a:pPr>
            <a:r>
              <a:rPr lang="ko-KR" altLang="en-US" sz="1050" b="1" dirty="0">
                <a:solidFill>
                  <a:srgbClr val="0D2138"/>
                </a:solidFill>
                <a:latin typeface="Apple SD Gothic Neo" pitchFamily="34" charset="0"/>
                <a:ea typeface="Apple SD Gothic Neo" pitchFamily="34" charset="-122"/>
                <a:cs typeface="Apple SD Gothic Neo" pitchFamily="34" charset="-120"/>
              </a:rPr>
              <a:t>카메라</a:t>
            </a:r>
            <a:endParaRPr lang="ko-KR" sz="1050" dirty="0"/>
          </a:p>
        </p:txBody>
      </p:sp>
      <p:sp>
        <p:nvSpPr>
          <p:cNvPr id="23" name="Text 21"/>
          <p:cNvSpPr/>
          <p:nvPr/>
        </p:nvSpPr>
        <p:spPr>
          <a:xfrm>
            <a:off x="6922008" y="3099816"/>
            <a:ext cx="914400" cy="118872"/>
          </a:xfrm>
          <a:prstGeom prst="rect">
            <a:avLst/>
          </a:prstGeom>
          <a:noFill/>
          <a:ln/>
        </p:spPr>
        <p:txBody>
          <a:bodyPr wrap="square" lIns="0" tIns="0" rIns="0" bIns="0" rtlCol="0" anchor="ctr">
            <a:normAutofit/>
          </a:bodyPr>
          <a:lstStyle/>
          <a:p>
            <a:pPr algn="ctr" indent="0" marL="0">
              <a:buNone/>
            </a:pPr>
            <a:r>
              <a:rPr lang="ko-KR" altLang="en-US" sz="770" dirty="0">
                <a:solidFill>
                  <a:srgbClr val="66758A"/>
                </a:solidFill>
                <a:latin typeface="Apple SD Gothic Neo" pitchFamily="34" charset="0"/>
                <a:ea typeface="Apple SD Gothic Neo" pitchFamily="34" charset="-122"/>
                <a:cs typeface="Apple SD Gothic Neo" pitchFamily="34" charset="-120"/>
              </a:rPr>
              <a:t>영상 수집</a:t>
            </a:r>
            <a:endParaRPr lang="ko-KR" sz="770" dirty="0"/>
          </a:p>
        </p:txBody>
      </p:sp>
      <p:sp>
        <p:nvSpPr>
          <p:cNvPr id="24" name="Shape 22"/>
          <p:cNvSpPr/>
          <p:nvPr/>
        </p:nvSpPr>
        <p:spPr>
          <a:xfrm>
            <a:off x="8028432" y="2286000"/>
            <a:ext cx="1005840" cy="1033272"/>
          </a:xfrm>
          <a:prstGeom prst="roundRect">
            <a:avLst>
              <a:gd name="adj" fmla="val 9091"/>
            </a:avLst>
          </a:prstGeom>
          <a:solidFill>
            <a:srgbClr val="E5F8F5"/>
          </a:solidFill>
          <a:ln w="12700">
            <a:solidFill>
              <a:srgbClr val="E5F8F5">
                <a:alpha val="0"/>
              </a:srgbClr>
            </a:solidFill>
            <a:prstDash val="solid"/>
          </a:ln>
        </p:spPr>
      </p:sp>
      <p:sp>
        <p:nvSpPr>
          <p:cNvPr id="25" name="Shape 23"/>
          <p:cNvSpPr/>
          <p:nvPr/>
        </p:nvSpPr>
        <p:spPr>
          <a:xfrm>
            <a:off x="8366760" y="2532888"/>
            <a:ext cx="301752" cy="301752"/>
          </a:xfrm>
          <a:prstGeom prst="rect">
            <a:avLst/>
          </a:prstGeom>
          <a:solidFill>
            <a:srgbClr val="12B6A4"/>
          </a:solidFill>
          <a:ln w="12700">
            <a:solidFill>
              <a:srgbClr val="12B6A4">
                <a:alpha val="0"/>
              </a:srgbClr>
            </a:solidFill>
            <a:prstDash val="solid"/>
          </a:ln>
        </p:spPr>
      </p:sp>
      <p:sp>
        <p:nvSpPr>
          <p:cNvPr id="26" name="Shape 24"/>
          <p:cNvSpPr/>
          <p:nvPr/>
        </p:nvSpPr>
        <p:spPr>
          <a:xfrm>
            <a:off x="8311896" y="2587752"/>
            <a:ext cx="54864" cy="0"/>
          </a:xfrm>
          <a:prstGeom prst="line">
            <a:avLst/>
          </a:prstGeom>
          <a:noFill/>
          <a:ln w="12700">
            <a:solidFill>
              <a:srgbClr val="12B6A4"/>
            </a:solidFill>
            <a:prstDash val="solid"/>
          </a:ln>
        </p:spPr>
      </p:sp>
      <p:sp>
        <p:nvSpPr>
          <p:cNvPr id="27" name="Shape 25"/>
          <p:cNvSpPr/>
          <p:nvPr/>
        </p:nvSpPr>
        <p:spPr>
          <a:xfrm>
            <a:off x="8668512" y="2587752"/>
            <a:ext cx="54864" cy="0"/>
          </a:xfrm>
          <a:prstGeom prst="line">
            <a:avLst/>
          </a:prstGeom>
          <a:noFill/>
          <a:ln w="12700">
            <a:solidFill>
              <a:srgbClr val="12B6A4"/>
            </a:solidFill>
            <a:prstDash val="solid"/>
          </a:ln>
        </p:spPr>
      </p:sp>
      <p:sp>
        <p:nvSpPr>
          <p:cNvPr id="28" name="Shape 26"/>
          <p:cNvSpPr/>
          <p:nvPr/>
        </p:nvSpPr>
        <p:spPr>
          <a:xfrm>
            <a:off x="8311896" y="2679192"/>
            <a:ext cx="54864" cy="0"/>
          </a:xfrm>
          <a:prstGeom prst="line">
            <a:avLst/>
          </a:prstGeom>
          <a:noFill/>
          <a:ln w="12700">
            <a:solidFill>
              <a:srgbClr val="12B6A4"/>
            </a:solidFill>
            <a:prstDash val="solid"/>
          </a:ln>
        </p:spPr>
      </p:sp>
      <p:sp>
        <p:nvSpPr>
          <p:cNvPr id="29" name="Shape 27"/>
          <p:cNvSpPr/>
          <p:nvPr/>
        </p:nvSpPr>
        <p:spPr>
          <a:xfrm>
            <a:off x="8668512" y="2679192"/>
            <a:ext cx="54864" cy="0"/>
          </a:xfrm>
          <a:prstGeom prst="line">
            <a:avLst/>
          </a:prstGeom>
          <a:noFill/>
          <a:ln w="12700">
            <a:solidFill>
              <a:srgbClr val="12B6A4"/>
            </a:solidFill>
            <a:prstDash val="solid"/>
          </a:ln>
        </p:spPr>
      </p:sp>
      <p:sp>
        <p:nvSpPr>
          <p:cNvPr id="30" name="Shape 28"/>
          <p:cNvSpPr/>
          <p:nvPr/>
        </p:nvSpPr>
        <p:spPr>
          <a:xfrm>
            <a:off x="8311896" y="2770632"/>
            <a:ext cx="54864" cy="0"/>
          </a:xfrm>
          <a:prstGeom prst="line">
            <a:avLst/>
          </a:prstGeom>
          <a:noFill/>
          <a:ln w="12700">
            <a:solidFill>
              <a:srgbClr val="12B6A4"/>
            </a:solidFill>
            <a:prstDash val="solid"/>
          </a:ln>
        </p:spPr>
      </p:sp>
      <p:sp>
        <p:nvSpPr>
          <p:cNvPr id="31" name="Shape 29"/>
          <p:cNvSpPr/>
          <p:nvPr/>
        </p:nvSpPr>
        <p:spPr>
          <a:xfrm>
            <a:off x="8668512" y="2770632"/>
            <a:ext cx="54864" cy="0"/>
          </a:xfrm>
          <a:prstGeom prst="line">
            <a:avLst/>
          </a:prstGeom>
          <a:noFill/>
          <a:ln w="12700">
            <a:solidFill>
              <a:srgbClr val="12B6A4"/>
            </a:solidFill>
            <a:prstDash val="solid"/>
          </a:ln>
        </p:spPr>
      </p:sp>
      <p:sp>
        <p:nvSpPr>
          <p:cNvPr id="32" name="Text 30"/>
          <p:cNvSpPr/>
          <p:nvPr/>
        </p:nvSpPr>
        <p:spPr>
          <a:xfrm>
            <a:off x="8083296" y="2907792"/>
            <a:ext cx="896112" cy="164592"/>
          </a:xfrm>
          <a:prstGeom prst="rect">
            <a:avLst/>
          </a:prstGeom>
          <a:noFill/>
          <a:ln/>
        </p:spPr>
        <p:txBody>
          <a:bodyPr wrap="square" lIns="0" tIns="0" rIns="0" bIns="0" rtlCol="0" anchor="ctr">
            <a:normAutofit/>
          </a:bodyPr>
          <a:lstStyle/>
          <a:p>
            <a:pPr algn="ctr" indent="0" marL="0">
              <a:buNone/>
            </a:pPr>
            <a:r>
              <a:rPr lang="ko-KR" altLang="en-US" sz="1050" b="1" dirty="0">
                <a:solidFill>
                  <a:srgbClr val="0D2138"/>
                </a:solidFill>
                <a:latin typeface="Apple SD Gothic Neo" pitchFamily="34" charset="0"/>
                <a:ea typeface="Apple SD Gothic Neo" pitchFamily="34" charset="-122"/>
                <a:cs typeface="Apple SD Gothic Neo" pitchFamily="34" charset="-120"/>
              </a:rPr>
              <a:t>라즈베리파이</a:t>
            </a:r>
            <a:endParaRPr lang="ko-KR" sz="1050" dirty="0"/>
          </a:p>
        </p:txBody>
      </p:sp>
      <p:sp>
        <p:nvSpPr>
          <p:cNvPr id="33" name="Text 31"/>
          <p:cNvSpPr/>
          <p:nvPr/>
        </p:nvSpPr>
        <p:spPr>
          <a:xfrm>
            <a:off x="8074152" y="3099816"/>
            <a:ext cx="914400" cy="118872"/>
          </a:xfrm>
          <a:prstGeom prst="rect">
            <a:avLst/>
          </a:prstGeom>
          <a:noFill/>
          <a:ln/>
        </p:spPr>
        <p:txBody>
          <a:bodyPr wrap="square" lIns="0" tIns="0" rIns="0" bIns="0" rtlCol="0" anchor="ctr">
            <a:normAutofit/>
          </a:bodyPr>
          <a:lstStyle/>
          <a:p>
            <a:pPr algn="ctr" indent="0" marL="0">
              <a:buNone/>
            </a:pPr>
            <a:r>
              <a:rPr lang="ko-KR" altLang="en-US" sz="770" dirty="0">
                <a:solidFill>
                  <a:srgbClr val="66758A"/>
                </a:solidFill>
                <a:latin typeface="Apple SD Gothic Neo" pitchFamily="34" charset="0"/>
                <a:ea typeface="Apple SD Gothic Neo" pitchFamily="34" charset="-122"/>
                <a:cs typeface="Apple SD Gothic Neo" pitchFamily="34" charset="-120"/>
              </a:rPr>
              <a:t>엣지 처리</a:t>
            </a:r>
            <a:endParaRPr lang="ko-KR" sz="770" dirty="0"/>
          </a:p>
        </p:txBody>
      </p:sp>
      <p:sp>
        <p:nvSpPr>
          <p:cNvPr id="34" name="Shape 32"/>
          <p:cNvSpPr/>
          <p:nvPr/>
        </p:nvSpPr>
        <p:spPr>
          <a:xfrm>
            <a:off x="9180576" y="2286000"/>
            <a:ext cx="1005840" cy="1033272"/>
          </a:xfrm>
          <a:prstGeom prst="roundRect">
            <a:avLst>
              <a:gd name="adj" fmla="val 9091"/>
            </a:avLst>
          </a:prstGeom>
          <a:solidFill>
            <a:srgbClr val="FFF5D9"/>
          </a:solidFill>
          <a:ln w="12700">
            <a:solidFill>
              <a:srgbClr val="FFF5D9">
                <a:alpha val="0"/>
              </a:srgbClr>
            </a:solidFill>
            <a:prstDash val="solid"/>
          </a:ln>
        </p:spPr>
      </p:sp>
      <p:sp>
        <p:nvSpPr>
          <p:cNvPr id="35" name="Shape 33"/>
          <p:cNvSpPr/>
          <p:nvPr/>
        </p:nvSpPr>
        <p:spPr>
          <a:xfrm>
            <a:off x="9546336" y="2523744"/>
            <a:ext cx="228600" cy="228600"/>
          </a:xfrm>
          <a:prstGeom prst="ellipse">
            <a:avLst/>
          </a:prstGeom>
          <a:solidFill>
            <a:srgbClr val="F2B544"/>
          </a:solidFill>
          <a:ln w="12700">
            <a:solidFill>
              <a:srgbClr val="F2B544">
                <a:alpha val="0"/>
              </a:srgbClr>
            </a:solidFill>
            <a:prstDash val="solid"/>
          </a:ln>
        </p:spPr>
      </p:sp>
      <p:sp>
        <p:nvSpPr>
          <p:cNvPr id="36" name="Shape 34"/>
          <p:cNvSpPr/>
          <p:nvPr/>
        </p:nvSpPr>
        <p:spPr>
          <a:xfrm>
            <a:off x="9619488" y="2596896"/>
            <a:ext cx="82296" cy="82296"/>
          </a:xfrm>
          <a:prstGeom prst="ellipse">
            <a:avLst/>
          </a:prstGeom>
          <a:solidFill>
            <a:srgbClr val="FFFFFF"/>
          </a:solidFill>
          <a:ln w="12700">
            <a:solidFill>
              <a:srgbClr val="FFFFFF">
                <a:alpha val="0"/>
              </a:srgbClr>
            </a:solidFill>
            <a:prstDash val="solid"/>
          </a:ln>
        </p:spPr>
      </p:sp>
      <p:sp>
        <p:nvSpPr>
          <p:cNvPr id="37" name="Shape 35"/>
          <p:cNvSpPr/>
          <p:nvPr/>
        </p:nvSpPr>
        <p:spPr>
          <a:xfrm>
            <a:off x="9660636" y="2734056"/>
            <a:ext cx="0" cy="146304"/>
          </a:xfrm>
          <a:prstGeom prst="line">
            <a:avLst/>
          </a:prstGeom>
          <a:noFill/>
          <a:ln w="12700">
            <a:solidFill>
              <a:srgbClr val="F2B544"/>
            </a:solidFill>
            <a:prstDash val="solid"/>
          </a:ln>
        </p:spPr>
      </p:sp>
      <p:sp>
        <p:nvSpPr>
          <p:cNvPr id="38" name="Text 36"/>
          <p:cNvSpPr/>
          <p:nvPr/>
        </p:nvSpPr>
        <p:spPr>
          <a:xfrm>
            <a:off x="9235440" y="2907792"/>
            <a:ext cx="896112" cy="164592"/>
          </a:xfrm>
          <a:prstGeom prst="rect">
            <a:avLst/>
          </a:prstGeom>
          <a:noFill/>
          <a:ln/>
        </p:spPr>
        <p:txBody>
          <a:bodyPr wrap="square" lIns="0" tIns="0" rIns="0" bIns="0" rtlCol="0" anchor="ctr">
            <a:normAutofit/>
          </a:bodyPr>
          <a:lstStyle/>
          <a:p>
            <a:pPr algn="ctr" indent="0" marL="0">
              <a:buNone/>
            </a:pPr>
            <a:r>
              <a:rPr lang="ko-KR" altLang="en-US" sz="1050" b="1" dirty="0">
                <a:solidFill>
                  <a:srgbClr val="0D2138"/>
                </a:solidFill>
                <a:latin typeface="Apple SD Gothic Neo" pitchFamily="34" charset="0"/>
                <a:ea typeface="Apple SD Gothic Neo" pitchFamily="34" charset="-122"/>
                <a:cs typeface="Apple SD Gothic Neo" pitchFamily="34" charset="-120"/>
              </a:rPr>
              <a:t>GPS</a:t>
            </a:r>
            <a:endParaRPr lang="ko-KR" sz="1050" dirty="0"/>
          </a:p>
        </p:txBody>
      </p:sp>
      <p:sp>
        <p:nvSpPr>
          <p:cNvPr id="39" name="Text 37"/>
          <p:cNvSpPr/>
          <p:nvPr/>
        </p:nvSpPr>
        <p:spPr>
          <a:xfrm>
            <a:off x="9226296" y="3099816"/>
            <a:ext cx="914400" cy="118872"/>
          </a:xfrm>
          <a:prstGeom prst="rect">
            <a:avLst/>
          </a:prstGeom>
          <a:noFill/>
          <a:ln/>
        </p:spPr>
        <p:txBody>
          <a:bodyPr wrap="square" lIns="0" tIns="0" rIns="0" bIns="0" rtlCol="0" anchor="ctr">
            <a:normAutofit/>
          </a:bodyPr>
          <a:lstStyle/>
          <a:p>
            <a:pPr algn="ctr" indent="0" marL="0">
              <a:buNone/>
            </a:pPr>
            <a:r>
              <a:rPr lang="ko-KR" altLang="en-US" sz="770" dirty="0">
                <a:solidFill>
                  <a:srgbClr val="66758A"/>
                </a:solidFill>
                <a:latin typeface="Apple SD Gothic Neo" pitchFamily="34" charset="0"/>
                <a:ea typeface="Apple SD Gothic Neo" pitchFamily="34" charset="-122"/>
                <a:cs typeface="Apple SD Gothic Neo" pitchFamily="34" charset="-120"/>
              </a:rPr>
              <a:t>위치 기록</a:t>
            </a:r>
            <a:endParaRPr lang="ko-KR" sz="770" dirty="0"/>
          </a:p>
        </p:txBody>
      </p:sp>
      <p:sp>
        <p:nvSpPr>
          <p:cNvPr id="40" name="Shape 38"/>
          <p:cNvSpPr/>
          <p:nvPr/>
        </p:nvSpPr>
        <p:spPr>
          <a:xfrm>
            <a:off x="10332720" y="2286000"/>
            <a:ext cx="1005840" cy="1033272"/>
          </a:xfrm>
          <a:prstGeom prst="roundRect">
            <a:avLst>
              <a:gd name="adj" fmla="val 9091"/>
            </a:avLst>
          </a:prstGeom>
          <a:solidFill>
            <a:srgbClr val="E8F1FF"/>
          </a:solidFill>
          <a:ln w="12700">
            <a:solidFill>
              <a:srgbClr val="E8F1FF">
                <a:alpha val="0"/>
              </a:srgbClr>
            </a:solidFill>
            <a:prstDash val="solid"/>
          </a:ln>
        </p:spPr>
      </p:sp>
      <p:sp>
        <p:nvSpPr>
          <p:cNvPr id="41" name="Shape 39"/>
          <p:cNvSpPr/>
          <p:nvPr/>
        </p:nvSpPr>
        <p:spPr>
          <a:xfrm>
            <a:off x="10634472" y="2542032"/>
            <a:ext cx="356616" cy="109728"/>
          </a:xfrm>
          <a:prstGeom prst="roundRect">
            <a:avLst>
              <a:gd name="adj" fmla="val 83333"/>
            </a:avLst>
          </a:prstGeom>
          <a:solidFill>
            <a:srgbClr val="2B77E5"/>
          </a:solidFill>
          <a:ln w="12700">
            <a:solidFill>
              <a:srgbClr val="2B77E5">
                <a:alpha val="0"/>
              </a:srgbClr>
            </a:solidFill>
            <a:prstDash val="solid"/>
          </a:ln>
        </p:spPr>
      </p:sp>
      <p:sp>
        <p:nvSpPr>
          <p:cNvPr id="42" name="Shape 40"/>
          <p:cNvSpPr/>
          <p:nvPr/>
        </p:nvSpPr>
        <p:spPr>
          <a:xfrm>
            <a:off x="10634472" y="2715768"/>
            <a:ext cx="356616" cy="109728"/>
          </a:xfrm>
          <a:prstGeom prst="roundRect">
            <a:avLst>
              <a:gd name="adj" fmla="val 83333"/>
            </a:avLst>
          </a:prstGeom>
          <a:solidFill>
            <a:srgbClr val="2B77E5"/>
          </a:solidFill>
          <a:ln w="12700">
            <a:solidFill>
              <a:srgbClr val="2B77E5">
                <a:alpha val="0"/>
              </a:srgbClr>
            </a:solidFill>
            <a:prstDash val="solid"/>
          </a:ln>
        </p:spPr>
      </p:sp>
      <p:sp>
        <p:nvSpPr>
          <p:cNvPr id="43" name="Shape 41"/>
          <p:cNvSpPr/>
          <p:nvPr/>
        </p:nvSpPr>
        <p:spPr>
          <a:xfrm>
            <a:off x="10689336" y="2569464"/>
            <a:ext cx="45720" cy="45720"/>
          </a:xfrm>
          <a:prstGeom prst="ellipse">
            <a:avLst/>
          </a:prstGeom>
          <a:solidFill>
            <a:srgbClr val="FFFFFF"/>
          </a:solidFill>
          <a:ln w="12700">
            <a:solidFill>
              <a:srgbClr val="FFFFFF">
                <a:alpha val="0"/>
              </a:srgbClr>
            </a:solidFill>
            <a:prstDash val="solid"/>
          </a:ln>
        </p:spPr>
      </p:sp>
      <p:sp>
        <p:nvSpPr>
          <p:cNvPr id="44" name="Shape 42"/>
          <p:cNvSpPr/>
          <p:nvPr/>
        </p:nvSpPr>
        <p:spPr>
          <a:xfrm>
            <a:off x="10689336" y="2743200"/>
            <a:ext cx="45720" cy="45720"/>
          </a:xfrm>
          <a:prstGeom prst="ellipse">
            <a:avLst/>
          </a:prstGeom>
          <a:solidFill>
            <a:srgbClr val="FFFFFF"/>
          </a:solidFill>
          <a:ln w="12700">
            <a:solidFill>
              <a:srgbClr val="FFFFFF">
                <a:alpha val="0"/>
              </a:srgbClr>
            </a:solidFill>
            <a:prstDash val="solid"/>
          </a:ln>
        </p:spPr>
      </p:sp>
      <p:sp>
        <p:nvSpPr>
          <p:cNvPr id="45" name="Text 43"/>
          <p:cNvSpPr/>
          <p:nvPr/>
        </p:nvSpPr>
        <p:spPr>
          <a:xfrm>
            <a:off x="10387584" y="2907792"/>
            <a:ext cx="896112" cy="164592"/>
          </a:xfrm>
          <a:prstGeom prst="rect">
            <a:avLst/>
          </a:prstGeom>
          <a:noFill/>
          <a:ln/>
        </p:spPr>
        <p:txBody>
          <a:bodyPr wrap="square" lIns="0" tIns="0" rIns="0" bIns="0" rtlCol="0" anchor="ctr">
            <a:normAutofit/>
          </a:bodyPr>
          <a:lstStyle/>
          <a:p>
            <a:pPr algn="ctr" indent="0" marL="0">
              <a:buNone/>
            </a:pPr>
            <a:r>
              <a:rPr lang="ko-KR" altLang="en-US" sz="1050" b="1" dirty="0">
                <a:solidFill>
                  <a:srgbClr val="0D2138"/>
                </a:solidFill>
                <a:latin typeface="Apple SD Gothic Neo" pitchFamily="34" charset="0"/>
                <a:ea typeface="Apple SD Gothic Neo" pitchFamily="34" charset="-122"/>
                <a:cs typeface="Apple SD Gothic Neo" pitchFamily="34" charset="-120"/>
              </a:rPr>
              <a:t>서버</a:t>
            </a:r>
            <a:endParaRPr lang="ko-KR" sz="1050" dirty="0"/>
          </a:p>
        </p:txBody>
      </p:sp>
      <p:sp>
        <p:nvSpPr>
          <p:cNvPr id="46" name="Text 44"/>
          <p:cNvSpPr/>
          <p:nvPr/>
        </p:nvSpPr>
        <p:spPr>
          <a:xfrm>
            <a:off x="10378440" y="3099816"/>
            <a:ext cx="914400" cy="118872"/>
          </a:xfrm>
          <a:prstGeom prst="rect">
            <a:avLst/>
          </a:prstGeom>
          <a:noFill/>
          <a:ln/>
        </p:spPr>
        <p:txBody>
          <a:bodyPr wrap="square" lIns="0" tIns="0" rIns="0" bIns="0" rtlCol="0" anchor="ctr">
            <a:normAutofit/>
          </a:bodyPr>
          <a:lstStyle/>
          <a:p>
            <a:pPr algn="ctr" indent="0" marL="0">
              <a:buNone/>
            </a:pPr>
            <a:r>
              <a:rPr lang="ko-KR" altLang="en-US" sz="770" dirty="0">
                <a:solidFill>
                  <a:srgbClr val="66758A"/>
                </a:solidFill>
                <a:latin typeface="Apple SD Gothic Neo" pitchFamily="34" charset="0"/>
                <a:ea typeface="Apple SD Gothic Neo" pitchFamily="34" charset="-122"/>
                <a:cs typeface="Apple SD Gothic Neo" pitchFamily="34" charset="-120"/>
              </a:rPr>
              <a:t>이벤트 저장</a:t>
            </a:r>
            <a:endParaRPr lang="ko-KR" sz="770" dirty="0"/>
          </a:p>
        </p:txBody>
      </p:sp>
      <p:sp>
        <p:nvSpPr>
          <p:cNvPr id="47" name="Shape 45"/>
          <p:cNvSpPr/>
          <p:nvPr/>
        </p:nvSpPr>
        <p:spPr>
          <a:xfrm>
            <a:off x="7900416" y="2770632"/>
            <a:ext cx="109728" cy="0"/>
          </a:xfrm>
          <a:prstGeom prst="line">
            <a:avLst/>
          </a:prstGeom>
          <a:noFill/>
          <a:ln w="12700">
            <a:solidFill>
              <a:srgbClr val="9AA7B7"/>
            </a:solidFill>
            <a:prstDash val="solid"/>
            <a:tailEnd type="triangle"/>
          </a:ln>
        </p:spPr>
      </p:sp>
      <p:sp>
        <p:nvSpPr>
          <p:cNvPr id="48" name="Shape 46"/>
          <p:cNvSpPr/>
          <p:nvPr/>
        </p:nvSpPr>
        <p:spPr>
          <a:xfrm>
            <a:off x="9052560" y="2770632"/>
            <a:ext cx="109728" cy="0"/>
          </a:xfrm>
          <a:prstGeom prst="line">
            <a:avLst/>
          </a:prstGeom>
          <a:noFill/>
          <a:ln w="12700">
            <a:solidFill>
              <a:srgbClr val="9AA7B7"/>
            </a:solidFill>
            <a:prstDash val="solid"/>
            <a:tailEnd type="triangle"/>
          </a:ln>
        </p:spPr>
      </p:sp>
      <p:sp>
        <p:nvSpPr>
          <p:cNvPr id="49" name="Shape 47"/>
          <p:cNvSpPr/>
          <p:nvPr/>
        </p:nvSpPr>
        <p:spPr>
          <a:xfrm>
            <a:off x="10204704" y="2770632"/>
            <a:ext cx="109728" cy="0"/>
          </a:xfrm>
          <a:prstGeom prst="line">
            <a:avLst/>
          </a:prstGeom>
          <a:noFill/>
          <a:ln w="12700">
            <a:solidFill>
              <a:srgbClr val="9AA7B7"/>
            </a:solidFill>
            <a:prstDash val="solid"/>
            <a:tailEnd type="triangle"/>
          </a:ln>
        </p:spPr>
      </p:sp>
      <p:sp>
        <p:nvSpPr>
          <p:cNvPr id="50" name="Shape 48"/>
          <p:cNvSpPr/>
          <p:nvPr/>
        </p:nvSpPr>
        <p:spPr>
          <a:xfrm>
            <a:off x="6903720" y="3730752"/>
            <a:ext cx="1005840" cy="246888"/>
          </a:xfrm>
          <a:prstGeom prst="roundRect">
            <a:avLst>
              <a:gd name="adj" fmla="val 37037"/>
            </a:avLst>
          </a:prstGeom>
          <a:solidFill>
            <a:srgbClr val="E8F1FF"/>
          </a:solidFill>
          <a:ln w="12700">
            <a:solidFill>
              <a:srgbClr val="E8F1FF">
                <a:alpha val="0"/>
              </a:srgbClr>
            </a:solidFill>
            <a:prstDash val="solid"/>
          </a:ln>
        </p:spPr>
      </p:sp>
      <p:sp>
        <p:nvSpPr>
          <p:cNvPr id="51" name="Text 49"/>
          <p:cNvSpPr/>
          <p:nvPr/>
        </p:nvSpPr>
        <p:spPr>
          <a:xfrm>
            <a:off x="6949440" y="3758184"/>
            <a:ext cx="914400" cy="146304"/>
          </a:xfrm>
          <a:prstGeom prst="rect">
            <a:avLst/>
          </a:prstGeom>
          <a:noFill/>
          <a:ln/>
        </p:spPr>
        <p:txBody>
          <a:bodyPr wrap="square" lIns="0" tIns="0" rIns="0" bIns="0" rtlCol="0" anchor="ctr">
            <a:normAutofit/>
          </a:bodyPr>
          <a:lstStyle/>
          <a:p>
            <a:pPr algn="ctr" indent="0" marL="0">
              <a:buNone/>
            </a:pPr>
            <a:r>
              <a:rPr lang="ko-KR" altLang="en-US" sz="880" b="1" dirty="0">
                <a:solidFill>
                  <a:srgbClr val="2B77E5"/>
                </a:solidFill>
                <a:latin typeface="Apple SD Gothic Neo" pitchFamily="34" charset="0"/>
                <a:ea typeface="Apple SD Gothic Neo" pitchFamily="34" charset="-122"/>
                <a:cs typeface="Apple SD Gothic Neo" pitchFamily="34" charset="-120"/>
              </a:rPr>
              <a:t>빠른 제작</a:t>
            </a:r>
            <a:endParaRPr lang="ko-KR" sz="880" dirty="0"/>
          </a:p>
        </p:txBody>
      </p:sp>
      <p:sp>
        <p:nvSpPr>
          <p:cNvPr id="52" name="Shape 50"/>
          <p:cNvSpPr/>
          <p:nvPr/>
        </p:nvSpPr>
        <p:spPr>
          <a:xfrm>
            <a:off x="8074152" y="3730752"/>
            <a:ext cx="1005840" cy="246888"/>
          </a:xfrm>
          <a:prstGeom prst="roundRect">
            <a:avLst>
              <a:gd name="adj" fmla="val 37037"/>
            </a:avLst>
          </a:prstGeom>
          <a:solidFill>
            <a:srgbClr val="E5F8F5"/>
          </a:solidFill>
          <a:ln w="12700">
            <a:solidFill>
              <a:srgbClr val="E5F8F5">
                <a:alpha val="0"/>
              </a:srgbClr>
            </a:solidFill>
            <a:prstDash val="solid"/>
          </a:ln>
        </p:spPr>
      </p:sp>
      <p:sp>
        <p:nvSpPr>
          <p:cNvPr id="53" name="Text 51"/>
          <p:cNvSpPr/>
          <p:nvPr/>
        </p:nvSpPr>
        <p:spPr>
          <a:xfrm>
            <a:off x="8119872" y="3758184"/>
            <a:ext cx="914400" cy="146304"/>
          </a:xfrm>
          <a:prstGeom prst="rect">
            <a:avLst/>
          </a:prstGeom>
          <a:noFill/>
          <a:ln/>
        </p:spPr>
        <p:txBody>
          <a:bodyPr wrap="square" lIns="0" tIns="0" rIns="0" bIns="0" rtlCol="0" anchor="ctr">
            <a:normAutofit/>
          </a:bodyPr>
          <a:lstStyle/>
          <a:p>
            <a:pPr algn="ctr" indent="0" marL="0">
              <a:buNone/>
            </a:pPr>
            <a:r>
              <a:rPr lang="ko-KR" altLang="en-US" sz="880" b="1" dirty="0">
                <a:solidFill>
                  <a:srgbClr val="12B6A4"/>
                </a:solidFill>
                <a:latin typeface="Apple SD Gothic Neo" pitchFamily="34" charset="0"/>
                <a:ea typeface="Apple SD Gothic Neo" pitchFamily="34" charset="-122"/>
                <a:cs typeface="Apple SD Gothic Neo" pitchFamily="34" charset="-120"/>
              </a:rPr>
              <a:t>낮은 비용</a:t>
            </a:r>
            <a:endParaRPr lang="ko-KR" sz="880" dirty="0"/>
          </a:p>
        </p:txBody>
      </p:sp>
      <p:sp>
        <p:nvSpPr>
          <p:cNvPr id="54" name="Shape 52"/>
          <p:cNvSpPr/>
          <p:nvPr/>
        </p:nvSpPr>
        <p:spPr>
          <a:xfrm>
            <a:off x="9244584" y="3730752"/>
            <a:ext cx="1115568" cy="246888"/>
          </a:xfrm>
          <a:prstGeom prst="roundRect">
            <a:avLst>
              <a:gd name="adj" fmla="val 37037"/>
            </a:avLst>
          </a:prstGeom>
          <a:solidFill>
            <a:srgbClr val="FFF5D9"/>
          </a:solidFill>
          <a:ln w="12700">
            <a:solidFill>
              <a:srgbClr val="FFF5D9">
                <a:alpha val="0"/>
              </a:srgbClr>
            </a:solidFill>
            <a:prstDash val="solid"/>
          </a:ln>
        </p:spPr>
      </p:sp>
      <p:sp>
        <p:nvSpPr>
          <p:cNvPr id="55" name="Text 53"/>
          <p:cNvSpPr/>
          <p:nvPr/>
        </p:nvSpPr>
        <p:spPr>
          <a:xfrm>
            <a:off x="9290304" y="3758184"/>
            <a:ext cx="1024128" cy="146304"/>
          </a:xfrm>
          <a:prstGeom prst="rect">
            <a:avLst/>
          </a:prstGeom>
          <a:noFill/>
          <a:ln/>
        </p:spPr>
        <p:txBody>
          <a:bodyPr wrap="square" lIns="0" tIns="0" rIns="0" bIns="0" rtlCol="0" anchor="ctr">
            <a:normAutofit/>
          </a:bodyPr>
          <a:lstStyle/>
          <a:p>
            <a:pPr algn="ctr" indent="0" marL="0">
              <a:buNone/>
            </a:pPr>
            <a:r>
              <a:rPr lang="ko-KR" altLang="en-US" sz="880" b="1" dirty="0">
                <a:solidFill>
                  <a:srgbClr val="946A00"/>
                </a:solidFill>
                <a:latin typeface="Apple SD Gothic Neo" pitchFamily="34" charset="0"/>
                <a:ea typeface="Apple SD Gothic Neo" pitchFamily="34" charset="-122"/>
                <a:cs typeface="Apple SD Gothic Neo" pitchFamily="34" charset="-120"/>
              </a:rPr>
              <a:t>현장 데이터</a:t>
            </a:r>
            <a:endParaRPr lang="ko-KR" sz="880" dirty="0"/>
          </a:p>
        </p:txBody>
      </p:sp>
      <p:sp>
        <p:nvSpPr>
          <p:cNvPr id="56" name="Shape 54"/>
          <p:cNvSpPr/>
          <p:nvPr/>
        </p:nvSpPr>
        <p:spPr>
          <a:xfrm>
            <a:off x="6858000" y="4315968"/>
            <a:ext cx="4315968" cy="0"/>
          </a:xfrm>
          <a:prstGeom prst="line">
            <a:avLst/>
          </a:prstGeom>
          <a:noFill/>
          <a:ln w="12700">
            <a:solidFill>
              <a:srgbClr val="DCE4ED"/>
            </a:solidFill>
            <a:prstDash val="solid"/>
          </a:ln>
        </p:spPr>
      </p:sp>
      <p:sp>
        <p:nvSpPr>
          <p:cNvPr id="57" name="Text 55"/>
          <p:cNvSpPr/>
          <p:nvPr/>
        </p:nvSpPr>
        <p:spPr>
          <a:xfrm>
            <a:off x="6858000" y="4553712"/>
            <a:ext cx="1417320" cy="201168"/>
          </a:xfrm>
          <a:prstGeom prst="rect">
            <a:avLst/>
          </a:prstGeom>
          <a:noFill/>
          <a:ln/>
        </p:spPr>
        <p:txBody>
          <a:bodyPr wrap="square" lIns="0" tIns="0" rIns="0" bIns="0" rtlCol="0" anchor="ctr">
            <a:normAutofit/>
          </a:bodyPr>
          <a:lstStyle/>
          <a:p>
            <a:pPr indent="0" marL="0">
              <a:buNone/>
            </a:pPr>
            <a:r>
              <a:rPr lang="ko-KR" altLang="en-US" sz="1000" b="1" dirty="0">
                <a:solidFill>
                  <a:srgbClr val="E66964"/>
                </a:solidFill>
                <a:latin typeface="Apple SD Gothic Neo" pitchFamily="34" charset="0"/>
                <a:ea typeface="Apple SD Gothic Neo" pitchFamily="34" charset="-122"/>
                <a:cs typeface="Apple SD Gothic Neo" pitchFamily="34" charset="-120"/>
              </a:rPr>
              <a:t>현실적 한계</a:t>
            </a:r>
            <a:endParaRPr lang="ko-KR" sz="1000" dirty="0"/>
          </a:p>
        </p:txBody>
      </p:sp>
      <p:sp>
        <p:nvSpPr>
          <p:cNvPr id="58" name="Shape 56"/>
          <p:cNvSpPr/>
          <p:nvPr/>
        </p:nvSpPr>
        <p:spPr>
          <a:xfrm>
            <a:off x="6858000" y="4965192"/>
            <a:ext cx="329184" cy="246888"/>
          </a:xfrm>
          <a:prstGeom prst="roundRect">
            <a:avLst>
              <a:gd name="adj" fmla="val 37037"/>
            </a:avLst>
          </a:prstGeom>
          <a:solidFill>
            <a:srgbClr val="FFF0EF"/>
          </a:solidFill>
          <a:ln w="12700">
            <a:solidFill>
              <a:srgbClr val="FFF0EF">
                <a:alpha val="0"/>
              </a:srgbClr>
            </a:solidFill>
            <a:prstDash val="solid"/>
          </a:ln>
        </p:spPr>
      </p:sp>
      <p:sp>
        <p:nvSpPr>
          <p:cNvPr id="59" name="Text 57"/>
          <p:cNvSpPr/>
          <p:nvPr/>
        </p:nvSpPr>
        <p:spPr>
          <a:xfrm>
            <a:off x="6903720" y="4992624"/>
            <a:ext cx="237744" cy="146304"/>
          </a:xfrm>
          <a:prstGeom prst="rect">
            <a:avLst/>
          </a:prstGeom>
          <a:noFill/>
          <a:ln/>
        </p:spPr>
        <p:txBody>
          <a:bodyPr wrap="square" lIns="0" tIns="0" rIns="0" bIns="0" rtlCol="0" anchor="ctr">
            <a:normAutofit/>
          </a:bodyPr>
          <a:lstStyle/>
          <a:p>
            <a:pPr algn="ctr" indent="0" marL="0">
              <a:buNone/>
            </a:pPr>
            <a:r>
              <a:rPr lang="ko-KR" altLang="en-US" sz="880" b="1" dirty="0">
                <a:solidFill>
                  <a:srgbClr val="E66964"/>
                </a:solidFill>
                <a:latin typeface="Apple SD Gothic Neo" pitchFamily="34" charset="0"/>
                <a:ea typeface="Apple SD Gothic Neo" pitchFamily="34" charset="-122"/>
                <a:cs typeface="Apple SD Gothic Neo" pitchFamily="34" charset="-120"/>
              </a:rPr>
              <a:t>01</a:t>
            </a:r>
            <a:endParaRPr lang="ko-KR" sz="880" dirty="0"/>
          </a:p>
        </p:txBody>
      </p:sp>
      <p:sp>
        <p:nvSpPr>
          <p:cNvPr id="60" name="Text 58"/>
          <p:cNvSpPr/>
          <p:nvPr/>
        </p:nvSpPr>
        <p:spPr>
          <a:xfrm>
            <a:off x="6858000" y="5330952"/>
            <a:ext cx="1243584" cy="173736"/>
          </a:xfrm>
          <a:prstGeom prst="rect">
            <a:avLst/>
          </a:prstGeom>
          <a:noFill/>
          <a:ln/>
        </p:spPr>
        <p:txBody>
          <a:bodyPr wrap="square" lIns="0" tIns="0" rIns="0" bIns="0" rtlCol="0" anchor="ctr">
            <a:normAutofit/>
          </a:bodyPr>
          <a:lstStyle/>
          <a:p>
            <a:pPr indent="0" marL="0">
              <a:buNone/>
            </a:pPr>
            <a:r>
              <a:rPr lang="ko-KR" altLang="en-US" sz="1000" b="1" dirty="0">
                <a:solidFill>
                  <a:srgbClr val="0D2138"/>
                </a:solidFill>
                <a:latin typeface="Apple SD Gothic Neo" pitchFamily="34" charset="0"/>
                <a:ea typeface="Apple SD Gothic Neo" pitchFamily="34" charset="-122"/>
                <a:cs typeface="Apple SD Gothic Neo" pitchFamily="34" charset="-120"/>
              </a:rPr>
              <a:t>시야 가림</a:t>
            </a:r>
            <a:endParaRPr lang="ko-KR" sz="1000" dirty="0"/>
          </a:p>
        </p:txBody>
      </p:sp>
      <p:sp>
        <p:nvSpPr>
          <p:cNvPr id="61" name="Text 59"/>
          <p:cNvSpPr/>
          <p:nvPr/>
        </p:nvSpPr>
        <p:spPr>
          <a:xfrm>
            <a:off x="6858000" y="5596128"/>
            <a:ext cx="1261872" cy="274320"/>
          </a:xfrm>
          <a:prstGeom prst="rect">
            <a:avLst/>
          </a:prstGeom>
          <a:noFill/>
          <a:ln/>
        </p:spPr>
        <p:txBody>
          <a:bodyPr wrap="square" lIns="0" tIns="0" rIns="0" bIns="0" rtlCol="0" anchor="t">
            <a:normAutofit/>
          </a:bodyPr>
          <a:lstStyle/>
          <a:p>
            <a:pPr indent="0" marL="0">
              <a:buNone/>
            </a:pPr>
            <a:r>
              <a:rPr lang="ko-KR" altLang="en-US" sz="820" dirty="0">
                <a:solidFill>
                  <a:srgbClr val="66758A"/>
                </a:solidFill>
                <a:latin typeface="Apple SD Gothic Neo" pitchFamily="34" charset="0"/>
                <a:ea typeface="Apple SD Gothic Neo" pitchFamily="34" charset="-122"/>
                <a:cs typeface="Apple SD Gothic Neo" pitchFamily="34" charset="-120"/>
              </a:rPr>
              <a:t>차량·사람·각도</a:t>
            </a:r>
            <a:endParaRPr lang="ko-KR" sz="820" dirty="0"/>
          </a:p>
        </p:txBody>
      </p:sp>
      <p:sp>
        <p:nvSpPr>
          <p:cNvPr id="62" name="Shape 60"/>
          <p:cNvSpPr/>
          <p:nvPr/>
        </p:nvSpPr>
        <p:spPr>
          <a:xfrm>
            <a:off x="8266176" y="4965192"/>
            <a:ext cx="329184" cy="246888"/>
          </a:xfrm>
          <a:prstGeom prst="roundRect">
            <a:avLst>
              <a:gd name="adj" fmla="val 37037"/>
            </a:avLst>
          </a:prstGeom>
          <a:solidFill>
            <a:srgbClr val="FFF0EF"/>
          </a:solidFill>
          <a:ln w="12700">
            <a:solidFill>
              <a:srgbClr val="FFF0EF">
                <a:alpha val="0"/>
              </a:srgbClr>
            </a:solidFill>
            <a:prstDash val="solid"/>
          </a:ln>
        </p:spPr>
      </p:sp>
      <p:sp>
        <p:nvSpPr>
          <p:cNvPr id="63" name="Text 61"/>
          <p:cNvSpPr/>
          <p:nvPr/>
        </p:nvSpPr>
        <p:spPr>
          <a:xfrm>
            <a:off x="8311896" y="4992624"/>
            <a:ext cx="237744" cy="146304"/>
          </a:xfrm>
          <a:prstGeom prst="rect">
            <a:avLst/>
          </a:prstGeom>
          <a:noFill/>
          <a:ln/>
        </p:spPr>
        <p:txBody>
          <a:bodyPr wrap="square" lIns="0" tIns="0" rIns="0" bIns="0" rtlCol="0" anchor="ctr">
            <a:normAutofit/>
          </a:bodyPr>
          <a:lstStyle/>
          <a:p>
            <a:pPr algn="ctr" indent="0" marL="0">
              <a:buNone/>
            </a:pPr>
            <a:r>
              <a:rPr lang="ko-KR" altLang="en-US" sz="880" b="1" dirty="0">
                <a:solidFill>
                  <a:srgbClr val="E66964"/>
                </a:solidFill>
                <a:latin typeface="Apple SD Gothic Neo" pitchFamily="34" charset="0"/>
                <a:ea typeface="Apple SD Gothic Neo" pitchFamily="34" charset="-122"/>
                <a:cs typeface="Apple SD Gothic Neo" pitchFamily="34" charset="-120"/>
              </a:rPr>
              <a:t>02</a:t>
            </a:r>
            <a:endParaRPr lang="ko-KR" sz="880" dirty="0"/>
          </a:p>
        </p:txBody>
      </p:sp>
      <p:sp>
        <p:nvSpPr>
          <p:cNvPr id="64" name="Text 62"/>
          <p:cNvSpPr/>
          <p:nvPr/>
        </p:nvSpPr>
        <p:spPr>
          <a:xfrm>
            <a:off x="8266176" y="5330952"/>
            <a:ext cx="1243584" cy="173736"/>
          </a:xfrm>
          <a:prstGeom prst="rect">
            <a:avLst/>
          </a:prstGeom>
          <a:noFill/>
          <a:ln/>
        </p:spPr>
        <p:txBody>
          <a:bodyPr wrap="square" lIns="0" tIns="0" rIns="0" bIns="0" rtlCol="0" anchor="ctr">
            <a:normAutofit/>
          </a:bodyPr>
          <a:lstStyle/>
          <a:p>
            <a:pPr indent="0" marL="0">
              <a:buNone/>
            </a:pPr>
            <a:r>
              <a:rPr lang="ko-KR" altLang="en-US" sz="1000" b="1" dirty="0">
                <a:solidFill>
                  <a:srgbClr val="0D2138"/>
                </a:solidFill>
                <a:latin typeface="Apple SD Gothic Neo" pitchFamily="34" charset="0"/>
                <a:ea typeface="Apple SD Gothic Neo" pitchFamily="34" charset="-122"/>
                <a:cs typeface="Apple SD Gothic Neo" pitchFamily="34" charset="-120"/>
              </a:rPr>
              <a:t>우천·야간</a:t>
            </a:r>
            <a:endParaRPr lang="ko-KR" sz="1000" dirty="0"/>
          </a:p>
        </p:txBody>
      </p:sp>
      <p:sp>
        <p:nvSpPr>
          <p:cNvPr id="65" name="Text 63"/>
          <p:cNvSpPr/>
          <p:nvPr/>
        </p:nvSpPr>
        <p:spPr>
          <a:xfrm>
            <a:off x="8266176" y="5596128"/>
            <a:ext cx="1261872" cy="274320"/>
          </a:xfrm>
          <a:prstGeom prst="rect">
            <a:avLst/>
          </a:prstGeom>
          <a:noFill/>
          <a:ln/>
        </p:spPr>
        <p:txBody>
          <a:bodyPr wrap="square" lIns="0" tIns="0" rIns="0" bIns="0" rtlCol="0" anchor="t">
            <a:normAutofit/>
          </a:bodyPr>
          <a:lstStyle/>
          <a:p>
            <a:pPr indent="0" marL="0">
              <a:buNone/>
            </a:pPr>
            <a:r>
              <a:rPr lang="ko-KR" altLang="en-US" sz="820" dirty="0">
                <a:solidFill>
                  <a:srgbClr val="66758A"/>
                </a:solidFill>
                <a:latin typeface="Apple SD Gothic Neo" pitchFamily="34" charset="0"/>
                <a:ea typeface="Apple SD Gothic Neo" pitchFamily="34" charset="-122"/>
                <a:cs typeface="Apple SD Gothic Neo" pitchFamily="34" charset="-120"/>
              </a:rPr>
              <a:t>화질·반사·물방울</a:t>
            </a:r>
            <a:endParaRPr lang="ko-KR" sz="820" dirty="0"/>
          </a:p>
        </p:txBody>
      </p:sp>
      <p:sp>
        <p:nvSpPr>
          <p:cNvPr id="66" name="Shape 64"/>
          <p:cNvSpPr/>
          <p:nvPr/>
        </p:nvSpPr>
        <p:spPr>
          <a:xfrm>
            <a:off x="9674352" y="4965192"/>
            <a:ext cx="329184" cy="246888"/>
          </a:xfrm>
          <a:prstGeom prst="roundRect">
            <a:avLst>
              <a:gd name="adj" fmla="val 37037"/>
            </a:avLst>
          </a:prstGeom>
          <a:solidFill>
            <a:srgbClr val="FFF0EF"/>
          </a:solidFill>
          <a:ln w="12700">
            <a:solidFill>
              <a:srgbClr val="FFF0EF">
                <a:alpha val="0"/>
              </a:srgbClr>
            </a:solidFill>
            <a:prstDash val="solid"/>
          </a:ln>
        </p:spPr>
      </p:sp>
      <p:sp>
        <p:nvSpPr>
          <p:cNvPr id="67" name="Text 65"/>
          <p:cNvSpPr/>
          <p:nvPr/>
        </p:nvSpPr>
        <p:spPr>
          <a:xfrm>
            <a:off x="9720072" y="4992624"/>
            <a:ext cx="237744" cy="146304"/>
          </a:xfrm>
          <a:prstGeom prst="rect">
            <a:avLst/>
          </a:prstGeom>
          <a:noFill/>
          <a:ln/>
        </p:spPr>
        <p:txBody>
          <a:bodyPr wrap="square" lIns="0" tIns="0" rIns="0" bIns="0" rtlCol="0" anchor="ctr">
            <a:normAutofit/>
          </a:bodyPr>
          <a:lstStyle/>
          <a:p>
            <a:pPr algn="ctr" indent="0" marL="0">
              <a:buNone/>
            </a:pPr>
            <a:r>
              <a:rPr lang="ko-KR" altLang="en-US" sz="880" b="1" dirty="0">
                <a:solidFill>
                  <a:srgbClr val="E66964"/>
                </a:solidFill>
                <a:latin typeface="Apple SD Gothic Neo" pitchFamily="34" charset="0"/>
                <a:ea typeface="Apple SD Gothic Neo" pitchFamily="34" charset="-122"/>
                <a:cs typeface="Apple SD Gothic Neo" pitchFamily="34" charset="-120"/>
              </a:rPr>
              <a:t>03</a:t>
            </a:r>
            <a:endParaRPr lang="ko-KR" sz="880" dirty="0"/>
          </a:p>
        </p:txBody>
      </p:sp>
      <p:sp>
        <p:nvSpPr>
          <p:cNvPr id="68" name="Text 66"/>
          <p:cNvSpPr/>
          <p:nvPr/>
        </p:nvSpPr>
        <p:spPr>
          <a:xfrm>
            <a:off x="9674352" y="5330952"/>
            <a:ext cx="1243584" cy="173736"/>
          </a:xfrm>
          <a:prstGeom prst="rect">
            <a:avLst/>
          </a:prstGeom>
          <a:noFill/>
          <a:ln/>
        </p:spPr>
        <p:txBody>
          <a:bodyPr wrap="square" lIns="0" tIns="0" rIns="0" bIns="0" rtlCol="0" anchor="ctr">
            <a:normAutofit/>
          </a:bodyPr>
          <a:lstStyle/>
          <a:p>
            <a:pPr indent="0" marL="0">
              <a:buNone/>
            </a:pPr>
            <a:r>
              <a:rPr lang="ko-KR" altLang="en-US" sz="1000" b="1" dirty="0">
                <a:solidFill>
                  <a:srgbClr val="0D2138"/>
                </a:solidFill>
                <a:latin typeface="Apple SD Gothic Neo" pitchFamily="34" charset="0"/>
                <a:ea typeface="Apple SD Gothic Neo" pitchFamily="34" charset="-122"/>
                <a:cs typeface="Apple SD Gothic Neo" pitchFamily="34" charset="-120"/>
              </a:rPr>
              <a:t>야외 내구성</a:t>
            </a:r>
            <a:endParaRPr lang="ko-KR" sz="1000" dirty="0"/>
          </a:p>
        </p:txBody>
      </p:sp>
      <p:sp>
        <p:nvSpPr>
          <p:cNvPr id="69" name="Text 67"/>
          <p:cNvSpPr/>
          <p:nvPr/>
        </p:nvSpPr>
        <p:spPr>
          <a:xfrm>
            <a:off x="9674352" y="5596128"/>
            <a:ext cx="1261872" cy="274320"/>
          </a:xfrm>
          <a:prstGeom prst="rect">
            <a:avLst/>
          </a:prstGeom>
          <a:noFill/>
          <a:ln/>
        </p:spPr>
        <p:txBody>
          <a:bodyPr wrap="square" lIns="0" tIns="0" rIns="0" bIns="0" rtlCol="0" anchor="t">
            <a:normAutofit/>
          </a:bodyPr>
          <a:lstStyle/>
          <a:p>
            <a:pPr indent="0" marL="0">
              <a:buNone/>
            </a:pPr>
            <a:r>
              <a:rPr lang="ko-KR" altLang="en-US" sz="820" dirty="0">
                <a:solidFill>
                  <a:srgbClr val="66758A"/>
                </a:solidFill>
                <a:latin typeface="Apple SD Gothic Neo" pitchFamily="34" charset="0"/>
                <a:ea typeface="Apple SD Gothic Neo" pitchFamily="34" charset="-122"/>
                <a:cs typeface="Apple SD Gothic Neo" pitchFamily="34" charset="-120"/>
              </a:rPr>
              <a:t>전원·방수·통신</a:t>
            </a:r>
            <a:endParaRPr lang="ko-KR" sz="820" dirty="0"/>
          </a:p>
        </p:txBody>
      </p:sp>
      <p:sp>
        <p:nvSpPr>
          <p:cNvPr id="70" name="Text 68"/>
          <p:cNvSpPr/>
          <p:nvPr/>
        </p:nvSpPr>
        <p:spPr>
          <a:xfrm>
            <a:off x="6858000" y="6025896"/>
            <a:ext cx="4297680" cy="146304"/>
          </a:xfrm>
          <a:prstGeom prst="rect">
            <a:avLst/>
          </a:prstGeom>
          <a:noFill/>
          <a:ln/>
        </p:spPr>
        <p:txBody>
          <a:bodyPr wrap="square" lIns="0" tIns="0" rIns="0" bIns="0" rtlCol="0" anchor="ctr">
            <a:normAutofit/>
          </a:bodyPr>
          <a:lstStyle/>
          <a:p>
            <a:pPr indent="0" marL="0">
              <a:buNone/>
            </a:pPr>
            <a:r>
              <a:rPr lang="ko-KR" altLang="en-US" sz="850" i="1" dirty="0">
                <a:solidFill>
                  <a:srgbClr val="9AA7B7"/>
                </a:solidFill>
                <a:latin typeface="Apple SD Gothic Neo" pitchFamily="34" charset="0"/>
                <a:ea typeface="Apple SD Gothic Neo" pitchFamily="34" charset="-122"/>
                <a:cs typeface="Apple SD Gothic Neo" pitchFamily="34" charset="-120"/>
              </a:rPr>
              <a:t>현재 선택은 부족함이 아니라, 시연 목표에 맞춘 우선순위입니다.</a:t>
            </a:r>
            <a:endParaRPr lang="ko-KR"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66928" y="320040"/>
            <a:ext cx="3840480" cy="164592"/>
          </a:xfrm>
          <a:prstGeom prst="rect">
            <a:avLst/>
          </a:prstGeom>
          <a:noFill/>
          <a:ln/>
        </p:spPr>
        <p:txBody>
          <a:bodyPr wrap="square" lIns="0" tIns="0" rIns="0" bIns="0" rtlCol="0" anchor="ctr">
            <a:normAutofit/>
          </a:bodyPr>
          <a:lstStyle/>
          <a:p>
            <a:pPr indent="0" marL="0">
              <a:buNone/>
            </a:pPr>
            <a:r>
              <a:rPr lang="ko-KR" altLang="en-US" sz="900" b="1" spc="130" kern="0" dirty="0">
                <a:solidFill>
                  <a:srgbClr val="2B77E5"/>
                </a:solidFill>
                <a:latin typeface="Apple SD Gothic Neo" pitchFamily="34" charset="0"/>
                <a:ea typeface="Apple SD Gothic Neo" pitchFamily="34" charset="-122"/>
                <a:cs typeface="Apple SD Gothic Neo" pitchFamily="34" charset="-120"/>
              </a:rPr>
              <a:t>NEXT HARDWARE</a:t>
            </a:r>
            <a:endParaRPr lang="ko-KR" sz="900" dirty="0"/>
          </a:p>
        </p:txBody>
      </p:sp>
      <p:sp>
        <p:nvSpPr>
          <p:cNvPr id="3" name="Text 1"/>
          <p:cNvSpPr/>
          <p:nvPr/>
        </p:nvSpPr>
        <p:spPr>
          <a:xfrm>
            <a:off x="10378440" y="320040"/>
            <a:ext cx="1234440" cy="164592"/>
          </a:xfrm>
          <a:prstGeom prst="rect">
            <a:avLst/>
          </a:prstGeom>
          <a:noFill/>
          <a:ln/>
        </p:spPr>
        <p:txBody>
          <a:bodyPr wrap="square" lIns="0" tIns="0" rIns="0" bIns="0" rtlCol="0" anchor="ctr">
            <a:normAutofit/>
          </a:bodyPr>
          <a:lstStyle/>
          <a:p>
            <a:pPr algn="r" indent="0" marL="0">
              <a:buNone/>
            </a:pPr>
            <a:r>
              <a:rPr lang="ko-KR" altLang="en-US" sz="850" dirty="0">
                <a:solidFill>
                  <a:srgbClr val="9AA7B7"/>
                </a:solidFill>
                <a:latin typeface="Apple SD Gothic Neo" pitchFamily="34" charset="0"/>
                <a:ea typeface="Apple SD Gothic Neo" pitchFamily="34" charset="-122"/>
                <a:cs typeface="Apple SD Gothic Neo" pitchFamily="34" charset="-120"/>
              </a:rPr>
              <a:t>BEUM  /  02</a:t>
            </a:r>
            <a:endParaRPr lang="ko-KR" sz="850" dirty="0"/>
          </a:p>
        </p:txBody>
      </p:sp>
      <p:sp>
        <p:nvSpPr>
          <p:cNvPr id="4" name="Text 2"/>
          <p:cNvSpPr/>
          <p:nvPr/>
        </p:nvSpPr>
        <p:spPr>
          <a:xfrm>
            <a:off x="566928" y="749808"/>
            <a:ext cx="6583680" cy="676656"/>
          </a:xfrm>
          <a:prstGeom prst="rect">
            <a:avLst/>
          </a:prstGeom>
          <a:noFill/>
          <a:ln/>
        </p:spPr>
        <p:txBody>
          <a:bodyPr wrap="square" lIns="0" tIns="0" rIns="0" bIns="0" rtlCol="0" anchor="t">
            <a:normAutofit/>
          </a:bodyPr>
          <a:lstStyle/>
          <a:p>
            <a:pPr indent="0" marL="0">
              <a:buNone/>
            </a:pPr>
            <a:r>
              <a:rPr lang="ko-KR" altLang="en-US" sz="2500" b="1" dirty="0">
                <a:solidFill>
                  <a:srgbClr val="0D2138"/>
                </a:solidFill>
                <a:latin typeface="Apple SD Gothic Neo" pitchFamily="34" charset="0"/>
                <a:ea typeface="Apple SD Gothic Neo" pitchFamily="34" charset="-122"/>
                <a:cs typeface="Apple SD Gothic Neo" pitchFamily="34" charset="-120"/>
              </a:rPr>
              <a:t>현재 3D 프린터 모델링에서</a:t>
            </a:r>
            <a:endParaRPr lang="ko-KR" sz="2500" dirty="0"/>
          </a:p>
          <a:p>
            <a:pPr indent="0" marL="0">
              <a:buNone/>
            </a:pPr>
            <a:r>
              <a:rPr lang="ko-KR" altLang="en-US" sz="2500" b="1" dirty="0">
                <a:solidFill>
                  <a:srgbClr val="0D2138"/>
                </a:solidFill>
                <a:latin typeface="Apple SD Gothic Neo" pitchFamily="34" charset="0"/>
                <a:ea typeface="Apple SD Gothic Neo" pitchFamily="34" charset="-122"/>
                <a:cs typeface="Apple SD Gothic Neo" pitchFamily="34" charset="-120"/>
              </a:rPr>
              <a:t>제품형 하드웨어로</a:t>
            </a:r>
            <a:endParaRPr lang="ko-KR" sz="2500" dirty="0"/>
          </a:p>
        </p:txBody>
      </p:sp>
      <p:sp>
        <p:nvSpPr>
          <p:cNvPr id="5" name="Text 3"/>
          <p:cNvSpPr/>
          <p:nvPr/>
        </p:nvSpPr>
        <p:spPr>
          <a:xfrm>
            <a:off x="594360" y="1572768"/>
            <a:ext cx="7498080" cy="219456"/>
          </a:xfrm>
          <a:prstGeom prst="rect">
            <a:avLst/>
          </a:prstGeom>
          <a:noFill/>
          <a:ln/>
        </p:spPr>
        <p:txBody>
          <a:bodyPr wrap="square" lIns="0" tIns="0" rIns="0" bIns="0" rtlCol="0" anchor="ctr">
            <a:normAutofit/>
          </a:bodyPr>
          <a:lstStyle/>
          <a:p>
            <a:pPr indent="0" marL="0">
              <a:buNone/>
            </a:pPr>
            <a:r>
              <a:rPr lang="ko-KR" altLang="en-US" sz="1250" dirty="0">
                <a:solidFill>
                  <a:srgbClr val="66758A"/>
                </a:solidFill>
                <a:latin typeface="Apple SD Gothic Neo" pitchFamily="34" charset="0"/>
                <a:ea typeface="Apple SD Gothic Neo" pitchFamily="34" charset="-122"/>
                <a:cs typeface="Apple SD Gothic Neo" pitchFamily="34" charset="-120"/>
              </a:rPr>
              <a:t>실제 제작한 케이스를 출발점으로, 탐지 안정성과 현장 내구성을 단계적으로 높입니다.</a:t>
            </a:r>
            <a:endParaRPr lang="ko-KR" sz="1250" dirty="0"/>
          </a:p>
        </p:txBody>
      </p:sp>
      <p:sp>
        <p:nvSpPr>
          <p:cNvPr id="6" name="Shape 4"/>
          <p:cNvSpPr/>
          <p:nvPr/>
        </p:nvSpPr>
        <p:spPr>
          <a:xfrm>
            <a:off x="548640" y="1920240"/>
            <a:ext cx="6720840" cy="4443984"/>
          </a:xfrm>
          <a:prstGeom prst="roundRect">
            <a:avLst>
              <a:gd name="adj" fmla="val 2058"/>
            </a:avLst>
          </a:prstGeom>
          <a:solidFill>
            <a:srgbClr val="0D2138"/>
          </a:solidFill>
          <a:ln w="12700">
            <a:solidFill>
              <a:srgbClr val="0D2138">
                <a:alpha val="0"/>
              </a:srgbClr>
            </a:solidFill>
            <a:prstDash val="solid"/>
          </a:ln>
        </p:spPr>
      </p:sp>
      <p:sp>
        <p:nvSpPr>
          <p:cNvPr id="7" name="Text 5"/>
          <p:cNvSpPr/>
          <p:nvPr/>
        </p:nvSpPr>
        <p:spPr>
          <a:xfrm>
            <a:off x="868680" y="2212848"/>
            <a:ext cx="2103120" cy="164592"/>
          </a:xfrm>
          <a:prstGeom prst="rect">
            <a:avLst/>
          </a:prstGeom>
          <a:noFill/>
          <a:ln/>
        </p:spPr>
        <p:txBody>
          <a:bodyPr wrap="square" lIns="0" tIns="0" rIns="0" bIns="0" rtlCol="0" anchor="ctr">
            <a:normAutofit/>
          </a:bodyPr>
          <a:lstStyle/>
          <a:p>
            <a:pPr indent="0" marL="0">
              <a:buNone/>
            </a:pPr>
            <a:r>
              <a:rPr lang="ko-KR" altLang="en-US" sz="900" b="1" spc="100" kern="0" dirty="0">
                <a:solidFill>
                  <a:srgbClr val="9DB7D4"/>
                </a:solidFill>
                <a:latin typeface="Apple SD Gothic Neo" pitchFamily="34" charset="0"/>
                <a:ea typeface="Apple SD Gothic Neo" pitchFamily="34" charset="-122"/>
                <a:cs typeface="Apple SD Gothic Neo" pitchFamily="34" charset="-120"/>
              </a:rPr>
              <a:t>ACTUAL PROTOTYPE</a:t>
            </a:r>
            <a:endParaRPr lang="ko-KR" sz="900" dirty="0"/>
          </a:p>
        </p:txBody>
      </p:sp>
      <p:sp>
        <p:nvSpPr>
          <p:cNvPr id="8" name="Text 6"/>
          <p:cNvSpPr/>
          <p:nvPr/>
        </p:nvSpPr>
        <p:spPr>
          <a:xfrm>
            <a:off x="868680" y="2468880"/>
            <a:ext cx="3474720" cy="256032"/>
          </a:xfrm>
          <a:prstGeom prst="rect">
            <a:avLst/>
          </a:prstGeom>
          <a:noFill/>
          <a:ln/>
        </p:spPr>
        <p:txBody>
          <a:bodyPr wrap="square" lIns="0" tIns="0" rIns="0" bIns="0" rtlCol="0" anchor="ctr">
            <a:normAutofit/>
          </a:bodyPr>
          <a:lstStyle/>
          <a:p>
            <a:pPr indent="0" marL="0">
              <a:buNone/>
            </a:pPr>
            <a:r>
              <a:rPr lang="ko-KR" altLang="en-US" sz="1600" b="1" dirty="0">
                <a:solidFill>
                  <a:srgbClr val="FFFFFF"/>
                </a:solidFill>
                <a:latin typeface="Apple SD Gothic Neo" pitchFamily="34" charset="0"/>
                <a:ea typeface="Apple SD Gothic Neo" pitchFamily="34" charset="-122"/>
                <a:cs typeface="Apple SD Gothic Neo" pitchFamily="34" charset="-120"/>
              </a:rPr>
              <a:t>3D 프린터 케이스 모델링</a:t>
            </a:r>
            <a:endParaRPr lang="ko-KR" sz="1600" dirty="0"/>
          </a:p>
        </p:txBody>
      </p:sp>
      <p:sp>
        <p:nvSpPr>
          <p:cNvPr id="9" name="Shape 7"/>
          <p:cNvSpPr/>
          <p:nvPr/>
        </p:nvSpPr>
        <p:spPr>
          <a:xfrm>
            <a:off x="841248" y="2889504"/>
            <a:ext cx="4224528" cy="2788920"/>
          </a:xfrm>
          <a:prstGeom prst="roundRect">
            <a:avLst>
              <a:gd name="adj" fmla="val 3279"/>
            </a:avLst>
          </a:prstGeom>
          <a:solidFill>
            <a:srgbClr val="FFFDF1"/>
          </a:solidFill>
          <a:ln w="12700">
            <a:solidFill>
              <a:srgbClr val="FFFDF1">
                <a:alpha val="0"/>
              </a:srgbClr>
            </a:solidFill>
            <a:prstDash val="solid"/>
          </a:ln>
        </p:spPr>
      </p:sp>
      <p:pic>
        <p:nvPicPr>
          <p:cNvPr id="10" name="Image 0" descr="/Users/mac/project/BEUM/ppt/beum_3d_model_assembly_view.png">    </p:cNvPr>
          <p:cNvPicPr>
            <a:picLocks noChangeAspect="1"/>
          </p:cNvPicPr>
          <p:nvPr/>
        </p:nvPicPr>
        <p:blipFill>
          <a:blip r:embed="rId1"/>
          <a:stretch>
            <a:fillRect/>
          </a:stretch>
        </p:blipFill>
        <p:spPr>
          <a:xfrm>
            <a:off x="932688" y="2944368"/>
            <a:ext cx="4041648" cy="2670048"/>
          </a:xfrm>
          <a:prstGeom prst="rect">
            <a:avLst/>
          </a:prstGeom>
        </p:spPr>
      </p:pic>
      <p:sp>
        <p:nvSpPr>
          <p:cNvPr id="11" name="Shape 8"/>
          <p:cNvSpPr/>
          <p:nvPr/>
        </p:nvSpPr>
        <p:spPr>
          <a:xfrm>
            <a:off x="5230368" y="2889504"/>
            <a:ext cx="1682496" cy="1682496"/>
          </a:xfrm>
          <a:prstGeom prst="roundRect">
            <a:avLst>
              <a:gd name="adj" fmla="val 5435"/>
            </a:avLst>
          </a:prstGeom>
          <a:solidFill>
            <a:srgbClr val="FFFDF1"/>
          </a:solidFill>
          <a:ln w="12700">
            <a:solidFill>
              <a:srgbClr val="FFFDF1">
                <a:alpha val="0"/>
              </a:srgbClr>
            </a:solidFill>
            <a:prstDash val="solid"/>
          </a:ln>
        </p:spPr>
      </p:sp>
      <p:pic>
        <p:nvPicPr>
          <p:cNvPr id="12" name="Image 1" descr="/Users/mac/project/BEUM/ppt/beum_3d_model_exploded.png">    </p:cNvPr>
          <p:cNvPicPr>
            <a:picLocks noChangeAspect="1"/>
          </p:cNvPicPr>
          <p:nvPr/>
        </p:nvPicPr>
        <p:blipFill>
          <a:blip r:embed="rId2"/>
          <a:stretch>
            <a:fillRect/>
          </a:stretch>
        </p:blipFill>
        <p:spPr>
          <a:xfrm>
            <a:off x="5294376" y="2953512"/>
            <a:ext cx="1554480" cy="1554480"/>
          </a:xfrm>
          <a:prstGeom prst="rect">
            <a:avLst/>
          </a:prstGeom>
        </p:spPr>
      </p:pic>
      <p:sp>
        <p:nvSpPr>
          <p:cNvPr id="13" name="Shape 9"/>
          <p:cNvSpPr/>
          <p:nvPr/>
        </p:nvSpPr>
        <p:spPr>
          <a:xfrm>
            <a:off x="5504688" y="4663440"/>
            <a:ext cx="786384" cy="246888"/>
          </a:xfrm>
          <a:prstGeom prst="roundRect">
            <a:avLst>
              <a:gd name="adj" fmla="val 37037"/>
            </a:avLst>
          </a:prstGeom>
          <a:solidFill>
            <a:srgbClr val="E5F8F5"/>
          </a:solidFill>
          <a:ln w="12700">
            <a:solidFill>
              <a:srgbClr val="E5F8F5">
                <a:alpha val="0"/>
              </a:srgbClr>
            </a:solidFill>
            <a:prstDash val="solid"/>
          </a:ln>
        </p:spPr>
      </p:sp>
      <p:sp>
        <p:nvSpPr>
          <p:cNvPr id="14" name="Text 10"/>
          <p:cNvSpPr/>
          <p:nvPr/>
        </p:nvSpPr>
        <p:spPr>
          <a:xfrm>
            <a:off x="5550408" y="4690872"/>
            <a:ext cx="694944" cy="146304"/>
          </a:xfrm>
          <a:prstGeom prst="rect">
            <a:avLst/>
          </a:prstGeom>
          <a:noFill/>
          <a:ln/>
        </p:spPr>
        <p:txBody>
          <a:bodyPr wrap="square" lIns="0" tIns="0" rIns="0" bIns="0" rtlCol="0" anchor="ctr">
            <a:normAutofit/>
          </a:bodyPr>
          <a:lstStyle/>
          <a:p>
            <a:pPr algn="ctr" indent="0" marL="0">
              <a:buNone/>
            </a:pPr>
            <a:r>
              <a:rPr lang="ko-KR" altLang="en-US" sz="880" b="1" dirty="0">
                <a:solidFill>
                  <a:srgbClr val="12B6A4"/>
                </a:solidFill>
                <a:latin typeface="Apple SD Gothic Neo" pitchFamily="34" charset="0"/>
                <a:ea typeface="Apple SD Gothic Neo" pitchFamily="34" charset="-122"/>
                <a:cs typeface="Apple SD Gothic Neo" pitchFamily="34" charset="-120"/>
              </a:rPr>
              <a:t>조립도</a:t>
            </a:r>
            <a:endParaRPr lang="ko-KR" sz="880" dirty="0"/>
          </a:p>
        </p:txBody>
      </p:sp>
      <p:sp>
        <p:nvSpPr>
          <p:cNvPr id="15" name="Text 11"/>
          <p:cNvSpPr/>
          <p:nvPr/>
        </p:nvSpPr>
        <p:spPr>
          <a:xfrm>
            <a:off x="5257800" y="5065776"/>
            <a:ext cx="1627632" cy="402336"/>
          </a:xfrm>
          <a:prstGeom prst="rect">
            <a:avLst/>
          </a:prstGeom>
          <a:noFill/>
          <a:ln/>
        </p:spPr>
        <p:txBody>
          <a:bodyPr wrap="square" lIns="0" tIns="0" rIns="0" bIns="0" rtlCol="0" anchor="t">
            <a:normAutofit/>
          </a:bodyPr>
          <a:lstStyle/>
          <a:p>
            <a:pPr algn="ctr" indent="0" marL="0">
              <a:buNone/>
            </a:pPr>
            <a:r>
              <a:rPr lang="ko-KR" altLang="en-US" sz="920" dirty="0">
                <a:solidFill>
                  <a:srgbClr val="C9D8E8"/>
                </a:solidFill>
                <a:latin typeface="Apple SD Gothic Neo" pitchFamily="34" charset="0"/>
                <a:ea typeface="Apple SD Gothic Neo" pitchFamily="34" charset="-122"/>
                <a:cs typeface="Apple SD Gothic Neo" pitchFamily="34" charset="-120"/>
              </a:rPr>
              <a:t>실제 출력 케이스의</a:t>
            </a:r>
            <a:endParaRPr lang="ko-KR" sz="920" dirty="0"/>
          </a:p>
          <a:p>
            <a:pPr algn="ctr" indent="0" marL="0">
              <a:buNone/>
            </a:pPr>
            <a:r>
              <a:rPr lang="ko-KR" altLang="en-US" sz="920" dirty="0">
                <a:solidFill>
                  <a:srgbClr val="C9D8E8"/>
                </a:solidFill>
                <a:latin typeface="Apple SD Gothic Neo" pitchFamily="34" charset="0"/>
                <a:ea typeface="Apple SD Gothic Neo" pitchFamily="34" charset="-122"/>
                <a:cs typeface="Apple SD Gothic Neo" pitchFamily="34" charset="-120"/>
              </a:rPr>
              <a:t>배치·조립 가능성 확인</a:t>
            </a:r>
            <a:endParaRPr lang="ko-KR" sz="920" dirty="0"/>
          </a:p>
        </p:txBody>
      </p:sp>
      <p:sp>
        <p:nvSpPr>
          <p:cNvPr id="16" name="Shape 12"/>
          <p:cNvSpPr/>
          <p:nvPr/>
        </p:nvSpPr>
        <p:spPr>
          <a:xfrm>
            <a:off x="868680" y="5943600"/>
            <a:ext cx="73152" cy="73152"/>
          </a:xfrm>
          <a:prstGeom prst="ellipse">
            <a:avLst/>
          </a:prstGeom>
          <a:solidFill>
            <a:srgbClr val="2B77E5"/>
          </a:solidFill>
          <a:ln w="12700">
            <a:solidFill>
              <a:srgbClr val="2B77E5">
                <a:alpha val="0"/>
              </a:srgbClr>
            </a:solidFill>
            <a:prstDash val="solid"/>
          </a:ln>
        </p:spPr>
      </p:sp>
      <p:sp>
        <p:nvSpPr>
          <p:cNvPr id="17" name="Text 13"/>
          <p:cNvSpPr/>
          <p:nvPr/>
        </p:nvSpPr>
        <p:spPr>
          <a:xfrm>
            <a:off x="1014984" y="5879592"/>
            <a:ext cx="1536192" cy="182880"/>
          </a:xfrm>
          <a:prstGeom prst="rect">
            <a:avLst/>
          </a:prstGeom>
          <a:noFill/>
          <a:ln/>
        </p:spPr>
        <p:txBody>
          <a:bodyPr wrap="square" lIns="0" tIns="0" rIns="0" bIns="0" rtlCol="0" anchor="ctr">
            <a:normAutofit/>
          </a:bodyPr>
          <a:lstStyle/>
          <a:p>
            <a:pPr indent="0" marL="0">
              <a:buNone/>
            </a:pPr>
            <a:r>
              <a:rPr lang="ko-KR" altLang="en-US" sz="930" b="1" dirty="0">
                <a:solidFill>
                  <a:srgbClr val="FFFFFF"/>
                </a:solidFill>
                <a:latin typeface="Apple SD Gothic Neo" pitchFamily="34" charset="0"/>
                <a:ea typeface="Apple SD Gothic Neo" pitchFamily="34" charset="-122"/>
                <a:cs typeface="Apple SD Gothic Neo" pitchFamily="34" charset="-120"/>
              </a:rPr>
              <a:t>카메라 장착부</a:t>
            </a:r>
            <a:endParaRPr lang="ko-KR" sz="930" dirty="0"/>
          </a:p>
        </p:txBody>
      </p:sp>
      <p:sp>
        <p:nvSpPr>
          <p:cNvPr id="18" name="Shape 14"/>
          <p:cNvSpPr/>
          <p:nvPr/>
        </p:nvSpPr>
        <p:spPr>
          <a:xfrm>
            <a:off x="2807208" y="5943600"/>
            <a:ext cx="73152" cy="73152"/>
          </a:xfrm>
          <a:prstGeom prst="ellipse">
            <a:avLst/>
          </a:prstGeom>
          <a:solidFill>
            <a:srgbClr val="12B6A4"/>
          </a:solidFill>
          <a:ln w="12700">
            <a:solidFill>
              <a:srgbClr val="12B6A4">
                <a:alpha val="0"/>
              </a:srgbClr>
            </a:solidFill>
            <a:prstDash val="solid"/>
          </a:ln>
        </p:spPr>
      </p:sp>
      <p:sp>
        <p:nvSpPr>
          <p:cNvPr id="19" name="Text 15"/>
          <p:cNvSpPr/>
          <p:nvPr/>
        </p:nvSpPr>
        <p:spPr>
          <a:xfrm>
            <a:off x="2953512" y="5879592"/>
            <a:ext cx="1536192" cy="182880"/>
          </a:xfrm>
          <a:prstGeom prst="rect">
            <a:avLst/>
          </a:prstGeom>
          <a:noFill/>
          <a:ln/>
        </p:spPr>
        <p:txBody>
          <a:bodyPr wrap="square" lIns="0" tIns="0" rIns="0" bIns="0" rtlCol="0" anchor="ctr">
            <a:normAutofit/>
          </a:bodyPr>
          <a:lstStyle/>
          <a:p>
            <a:pPr indent="0" marL="0">
              <a:buNone/>
            </a:pPr>
            <a:r>
              <a:rPr lang="ko-KR" altLang="en-US" sz="930" b="1" dirty="0">
                <a:solidFill>
                  <a:srgbClr val="FFFFFF"/>
                </a:solidFill>
                <a:latin typeface="Apple SD Gothic Neo" pitchFamily="34" charset="0"/>
                <a:ea typeface="Apple SD Gothic Neo" pitchFamily="34" charset="-122"/>
                <a:cs typeface="Apple SD Gothic Neo" pitchFamily="34" charset="-120"/>
              </a:rPr>
              <a:t>전자부 수납</a:t>
            </a:r>
            <a:endParaRPr lang="ko-KR" sz="930" dirty="0"/>
          </a:p>
        </p:txBody>
      </p:sp>
      <p:sp>
        <p:nvSpPr>
          <p:cNvPr id="20" name="Shape 16"/>
          <p:cNvSpPr/>
          <p:nvPr/>
        </p:nvSpPr>
        <p:spPr>
          <a:xfrm>
            <a:off x="4745736" y="5943600"/>
            <a:ext cx="73152" cy="73152"/>
          </a:xfrm>
          <a:prstGeom prst="ellipse">
            <a:avLst/>
          </a:prstGeom>
          <a:solidFill>
            <a:srgbClr val="F2B544"/>
          </a:solidFill>
          <a:ln w="12700">
            <a:solidFill>
              <a:srgbClr val="F2B544">
                <a:alpha val="0"/>
              </a:srgbClr>
            </a:solidFill>
            <a:prstDash val="solid"/>
          </a:ln>
        </p:spPr>
      </p:sp>
      <p:sp>
        <p:nvSpPr>
          <p:cNvPr id="21" name="Text 17"/>
          <p:cNvSpPr/>
          <p:nvPr/>
        </p:nvSpPr>
        <p:spPr>
          <a:xfrm>
            <a:off x="4892040" y="5879592"/>
            <a:ext cx="1536192" cy="182880"/>
          </a:xfrm>
          <a:prstGeom prst="rect">
            <a:avLst/>
          </a:prstGeom>
          <a:noFill/>
          <a:ln/>
        </p:spPr>
        <p:txBody>
          <a:bodyPr wrap="square" lIns="0" tIns="0" rIns="0" bIns="0" rtlCol="0" anchor="ctr">
            <a:normAutofit/>
          </a:bodyPr>
          <a:lstStyle/>
          <a:p>
            <a:pPr indent="0" marL="0">
              <a:buNone/>
            </a:pPr>
            <a:r>
              <a:rPr lang="ko-KR" altLang="en-US" sz="930" b="1" dirty="0">
                <a:solidFill>
                  <a:srgbClr val="FFFFFF"/>
                </a:solidFill>
                <a:latin typeface="Apple SD Gothic Neo" pitchFamily="34" charset="0"/>
                <a:ea typeface="Apple SD Gothic Neo" pitchFamily="34" charset="-122"/>
                <a:cs typeface="Apple SD Gothic Neo" pitchFamily="34" charset="-120"/>
              </a:rPr>
              <a:t>분해·조립 구조</a:t>
            </a:r>
            <a:endParaRPr lang="ko-KR" sz="930" dirty="0"/>
          </a:p>
        </p:txBody>
      </p:sp>
      <p:sp>
        <p:nvSpPr>
          <p:cNvPr id="22" name="Shape 18"/>
          <p:cNvSpPr/>
          <p:nvPr/>
        </p:nvSpPr>
        <p:spPr>
          <a:xfrm>
            <a:off x="7498080" y="1920240"/>
            <a:ext cx="4133088" cy="4443984"/>
          </a:xfrm>
          <a:prstGeom prst="roundRect">
            <a:avLst>
              <a:gd name="adj" fmla="val 2212"/>
            </a:avLst>
          </a:prstGeom>
          <a:solidFill>
            <a:srgbClr val="FFFFFF"/>
          </a:solidFill>
          <a:ln w="12700">
            <a:solidFill>
              <a:srgbClr val="DCE4ED"/>
            </a:solidFill>
            <a:prstDash val="solid"/>
          </a:ln>
        </p:spPr>
      </p:sp>
      <p:sp>
        <p:nvSpPr>
          <p:cNvPr id="23" name="Text 19"/>
          <p:cNvSpPr/>
          <p:nvPr/>
        </p:nvSpPr>
        <p:spPr>
          <a:xfrm>
            <a:off x="7845552" y="2221992"/>
            <a:ext cx="3063240" cy="256032"/>
          </a:xfrm>
          <a:prstGeom prst="rect">
            <a:avLst/>
          </a:prstGeom>
          <a:noFill/>
          <a:ln/>
        </p:spPr>
        <p:txBody>
          <a:bodyPr wrap="square" lIns="0" tIns="0" rIns="0" bIns="0" rtlCol="0" anchor="ctr">
            <a:normAutofit/>
          </a:bodyPr>
          <a:lstStyle/>
          <a:p>
            <a:pPr indent="0" marL="0">
              <a:buNone/>
            </a:pPr>
            <a:r>
              <a:rPr lang="ko-KR" altLang="en-US" sz="1600" b="1" dirty="0">
                <a:solidFill>
                  <a:srgbClr val="0D2138"/>
                </a:solidFill>
                <a:latin typeface="Apple SD Gothic Neo" pitchFamily="34" charset="0"/>
                <a:ea typeface="Apple SD Gothic Neo" pitchFamily="34" charset="-122"/>
                <a:cs typeface="Apple SD Gothic Neo" pitchFamily="34" charset="-120"/>
              </a:rPr>
              <a:t>3단계 고도화 로드맵</a:t>
            </a:r>
            <a:endParaRPr lang="ko-KR" sz="1600" dirty="0"/>
          </a:p>
        </p:txBody>
      </p:sp>
      <p:sp>
        <p:nvSpPr>
          <p:cNvPr id="24" name="Shape 20"/>
          <p:cNvSpPr/>
          <p:nvPr/>
        </p:nvSpPr>
        <p:spPr>
          <a:xfrm>
            <a:off x="7872984" y="2724912"/>
            <a:ext cx="3310128" cy="0"/>
          </a:xfrm>
          <a:prstGeom prst="line">
            <a:avLst/>
          </a:prstGeom>
          <a:noFill/>
          <a:ln w="12700">
            <a:solidFill>
              <a:srgbClr val="DCE4ED"/>
            </a:solidFill>
            <a:prstDash val="solid"/>
          </a:ln>
        </p:spPr>
      </p:sp>
      <p:sp>
        <p:nvSpPr>
          <p:cNvPr id="25" name="Shape 21"/>
          <p:cNvSpPr/>
          <p:nvPr/>
        </p:nvSpPr>
        <p:spPr>
          <a:xfrm>
            <a:off x="7845552" y="3017520"/>
            <a:ext cx="530352" cy="530352"/>
          </a:xfrm>
          <a:prstGeom prst="roundRect">
            <a:avLst>
              <a:gd name="adj" fmla="val 17241"/>
            </a:avLst>
          </a:prstGeom>
          <a:solidFill>
            <a:srgbClr val="E8F1FF"/>
          </a:solidFill>
          <a:ln w="12700">
            <a:solidFill>
              <a:srgbClr val="E8F1FF">
                <a:alpha val="0"/>
              </a:srgbClr>
            </a:solidFill>
            <a:prstDash val="solid"/>
          </a:ln>
        </p:spPr>
      </p:sp>
      <p:sp>
        <p:nvSpPr>
          <p:cNvPr id="26" name="Text 22"/>
          <p:cNvSpPr/>
          <p:nvPr/>
        </p:nvSpPr>
        <p:spPr>
          <a:xfrm>
            <a:off x="7845552" y="3163824"/>
            <a:ext cx="530352" cy="173736"/>
          </a:xfrm>
          <a:prstGeom prst="rect">
            <a:avLst/>
          </a:prstGeom>
          <a:noFill/>
          <a:ln/>
        </p:spPr>
        <p:txBody>
          <a:bodyPr wrap="square" lIns="0" tIns="0" rIns="0" bIns="0" rtlCol="0" anchor="ctr">
            <a:normAutofit/>
          </a:bodyPr>
          <a:lstStyle/>
          <a:p>
            <a:pPr algn="ctr" indent="0" marL="0">
              <a:buNone/>
            </a:pPr>
            <a:r>
              <a:rPr lang="ko-KR" altLang="en-US" sz="1150" b="1" dirty="0">
                <a:solidFill>
                  <a:srgbClr val="2B77E5"/>
                </a:solidFill>
                <a:latin typeface="Apple SD Gothic Neo" pitchFamily="34" charset="0"/>
                <a:ea typeface="Apple SD Gothic Neo" pitchFamily="34" charset="-122"/>
                <a:cs typeface="Apple SD Gothic Neo" pitchFamily="34" charset="-120"/>
              </a:rPr>
              <a:t>01</a:t>
            </a:r>
            <a:endParaRPr lang="ko-KR" sz="1150" dirty="0"/>
          </a:p>
        </p:txBody>
      </p:sp>
      <p:sp>
        <p:nvSpPr>
          <p:cNvPr id="27" name="Text 23"/>
          <p:cNvSpPr/>
          <p:nvPr/>
        </p:nvSpPr>
        <p:spPr>
          <a:xfrm>
            <a:off x="8595360" y="3026664"/>
            <a:ext cx="2468880" cy="201168"/>
          </a:xfrm>
          <a:prstGeom prst="rect">
            <a:avLst/>
          </a:prstGeom>
          <a:noFill/>
          <a:ln/>
        </p:spPr>
        <p:txBody>
          <a:bodyPr wrap="square" lIns="0" tIns="0" rIns="0" bIns="0" rtlCol="0" anchor="ctr">
            <a:normAutofit/>
          </a:bodyPr>
          <a:lstStyle/>
          <a:p>
            <a:pPr indent="0" marL="0">
              <a:buNone/>
            </a:pPr>
            <a:r>
              <a:rPr lang="ko-KR" altLang="en-US" sz="1230" b="1" dirty="0">
                <a:solidFill>
                  <a:srgbClr val="0D2138"/>
                </a:solidFill>
                <a:latin typeface="Apple SD Gothic Neo" pitchFamily="34" charset="0"/>
                <a:ea typeface="Apple SD Gothic Neo" pitchFamily="34" charset="-122"/>
                <a:cs typeface="Apple SD Gothic Neo" pitchFamily="34" charset="-120"/>
              </a:rPr>
              <a:t>탐지 보완</a:t>
            </a:r>
            <a:endParaRPr lang="ko-KR" sz="1230" dirty="0"/>
          </a:p>
        </p:txBody>
      </p:sp>
      <p:sp>
        <p:nvSpPr>
          <p:cNvPr id="28" name="Text 24"/>
          <p:cNvSpPr/>
          <p:nvPr/>
        </p:nvSpPr>
        <p:spPr>
          <a:xfrm>
            <a:off x="8595360" y="3300984"/>
            <a:ext cx="2606040" cy="384048"/>
          </a:xfrm>
          <a:prstGeom prst="rect">
            <a:avLst/>
          </a:prstGeom>
          <a:noFill/>
          <a:ln/>
        </p:spPr>
        <p:txBody>
          <a:bodyPr wrap="square" lIns="0" tIns="0" rIns="0" bIns="0" rtlCol="0" anchor="t">
            <a:normAutofit/>
          </a:bodyPr>
          <a:lstStyle/>
          <a:p>
            <a:pPr indent="0" marL="0">
              <a:buNone/>
            </a:pPr>
            <a:r>
              <a:rPr lang="ko-KR" altLang="en-US" sz="940" dirty="0">
                <a:solidFill>
                  <a:srgbClr val="66758A"/>
                </a:solidFill>
                <a:latin typeface="Apple SD Gothic Neo" pitchFamily="34" charset="0"/>
                <a:ea typeface="Apple SD Gothic Neo" pitchFamily="34" charset="-122"/>
                <a:cs typeface="Apple SD Gothic Neo" pitchFamily="34" charset="-120"/>
              </a:rPr>
              <a:t>카메라 각도·사각지대 점검</a:t>
            </a:r>
            <a:endParaRPr lang="ko-KR" sz="940" dirty="0"/>
          </a:p>
          <a:p>
            <a:pPr indent="0" marL="0">
              <a:buNone/>
            </a:pPr>
            <a:r>
              <a:rPr lang="ko-KR" altLang="en-US" sz="940" dirty="0">
                <a:solidFill>
                  <a:srgbClr val="66758A"/>
                </a:solidFill>
                <a:latin typeface="Apple SD Gothic Neo" pitchFamily="34" charset="0"/>
                <a:ea typeface="Apple SD Gothic Neo" pitchFamily="34" charset="-122"/>
                <a:cs typeface="Apple SD Gothic Neo" pitchFamily="34" charset="-120"/>
              </a:rPr>
              <a:t>수위 센서 연계 및 점검 필요 분리</a:t>
            </a:r>
            <a:endParaRPr lang="ko-KR" sz="940" dirty="0"/>
          </a:p>
        </p:txBody>
      </p:sp>
      <p:sp>
        <p:nvSpPr>
          <p:cNvPr id="29" name="Shape 25"/>
          <p:cNvSpPr/>
          <p:nvPr/>
        </p:nvSpPr>
        <p:spPr>
          <a:xfrm>
            <a:off x="8110728" y="3566160"/>
            <a:ext cx="0" cy="393192"/>
          </a:xfrm>
          <a:prstGeom prst="line">
            <a:avLst/>
          </a:prstGeom>
          <a:noFill/>
          <a:ln w="12700">
            <a:solidFill>
              <a:srgbClr val="DCE4ED"/>
            </a:solidFill>
            <a:prstDash val="solid"/>
          </a:ln>
        </p:spPr>
      </p:sp>
      <p:sp>
        <p:nvSpPr>
          <p:cNvPr id="30" name="Shape 26"/>
          <p:cNvSpPr/>
          <p:nvPr/>
        </p:nvSpPr>
        <p:spPr>
          <a:xfrm>
            <a:off x="7845552" y="3959352"/>
            <a:ext cx="530352" cy="530352"/>
          </a:xfrm>
          <a:prstGeom prst="roundRect">
            <a:avLst>
              <a:gd name="adj" fmla="val 17241"/>
            </a:avLst>
          </a:prstGeom>
          <a:solidFill>
            <a:srgbClr val="E5F8F5"/>
          </a:solidFill>
          <a:ln w="12700">
            <a:solidFill>
              <a:srgbClr val="E5F8F5">
                <a:alpha val="0"/>
              </a:srgbClr>
            </a:solidFill>
            <a:prstDash val="solid"/>
          </a:ln>
        </p:spPr>
      </p:sp>
      <p:sp>
        <p:nvSpPr>
          <p:cNvPr id="31" name="Text 27"/>
          <p:cNvSpPr/>
          <p:nvPr/>
        </p:nvSpPr>
        <p:spPr>
          <a:xfrm>
            <a:off x="7845552" y="4105656"/>
            <a:ext cx="530352" cy="173736"/>
          </a:xfrm>
          <a:prstGeom prst="rect">
            <a:avLst/>
          </a:prstGeom>
          <a:noFill/>
          <a:ln/>
        </p:spPr>
        <p:txBody>
          <a:bodyPr wrap="square" lIns="0" tIns="0" rIns="0" bIns="0" rtlCol="0" anchor="ctr">
            <a:normAutofit/>
          </a:bodyPr>
          <a:lstStyle/>
          <a:p>
            <a:pPr algn="ctr" indent="0" marL="0">
              <a:buNone/>
            </a:pPr>
            <a:r>
              <a:rPr lang="ko-KR" altLang="en-US" sz="1150" b="1" dirty="0">
                <a:solidFill>
                  <a:srgbClr val="12B6A4"/>
                </a:solidFill>
                <a:latin typeface="Apple SD Gothic Neo" pitchFamily="34" charset="0"/>
                <a:ea typeface="Apple SD Gothic Neo" pitchFamily="34" charset="-122"/>
                <a:cs typeface="Apple SD Gothic Neo" pitchFamily="34" charset="-120"/>
              </a:rPr>
              <a:t>02</a:t>
            </a:r>
            <a:endParaRPr lang="ko-KR" sz="1150" dirty="0"/>
          </a:p>
        </p:txBody>
      </p:sp>
      <p:sp>
        <p:nvSpPr>
          <p:cNvPr id="32" name="Text 28"/>
          <p:cNvSpPr/>
          <p:nvPr/>
        </p:nvSpPr>
        <p:spPr>
          <a:xfrm>
            <a:off x="8595360" y="3968496"/>
            <a:ext cx="2468880" cy="201168"/>
          </a:xfrm>
          <a:prstGeom prst="rect">
            <a:avLst/>
          </a:prstGeom>
          <a:noFill/>
          <a:ln/>
        </p:spPr>
        <p:txBody>
          <a:bodyPr wrap="square" lIns="0" tIns="0" rIns="0" bIns="0" rtlCol="0" anchor="ctr">
            <a:normAutofit/>
          </a:bodyPr>
          <a:lstStyle/>
          <a:p>
            <a:pPr indent="0" marL="0">
              <a:buNone/>
            </a:pPr>
            <a:r>
              <a:rPr lang="ko-KR" altLang="en-US" sz="1230" b="1" dirty="0">
                <a:solidFill>
                  <a:srgbClr val="0D2138"/>
                </a:solidFill>
                <a:latin typeface="Apple SD Gothic Neo" pitchFamily="34" charset="0"/>
                <a:ea typeface="Apple SD Gothic Neo" pitchFamily="34" charset="-122"/>
                <a:cs typeface="Apple SD Gothic Neo" pitchFamily="34" charset="-120"/>
              </a:rPr>
              <a:t>현장 내구성</a:t>
            </a:r>
            <a:endParaRPr lang="ko-KR" sz="1230" dirty="0"/>
          </a:p>
        </p:txBody>
      </p:sp>
      <p:sp>
        <p:nvSpPr>
          <p:cNvPr id="33" name="Text 29"/>
          <p:cNvSpPr/>
          <p:nvPr/>
        </p:nvSpPr>
        <p:spPr>
          <a:xfrm>
            <a:off x="8595360" y="4242816"/>
            <a:ext cx="2606040" cy="384048"/>
          </a:xfrm>
          <a:prstGeom prst="rect">
            <a:avLst/>
          </a:prstGeom>
          <a:noFill/>
          <a:ln/>
        </p:spPr>
        <p:txBody>
          <a:bodyPr wrap="square" lIns="0" tIns="0" rIns="0" bIns="0" rtlCol="0" anchor="t">
            <a:normAutofit/>
          </a:bodyPr>
          <a:lstStyle/>
          <a:p>
            <a:pPr indent="0" marL="0">
              <a:buNone/>
            </a:pPr>
            <a:r>
              <a:rPr lang="ko-KR" altLang="en-US" sz="940" dirty="0">
                <a:solidFill>
                  <a:srgbClr val="66758A"/>
                </a:solidFill>
                <a:latin typeface="Apple SD Gothic Neo" pitchFamily="34" charset="0"/>
                <a:ea typeface="Apple SD Gothic Neo" pitchFamily="34" charset="-122"/>
                <a:cs typeface="Apple SD Gothic Neo" pitchFamily="34" charset="-120"/>
              </a:rPr>
              <a:t>출력 케이스를 전용 하우징으로</a:t>
            </a:r>
            <a:endParaRPr lang="ko-KR" sz="940" dirty="0"/>
          </a:p>
          <a:p>
            <a:pPr indent="0" marL="0">
              <a:buNone/>
            </a:pPr>
            <a:r>
              <a:rPr lang="ko-KR" altLang="en-US" sz="940" dirty="0">
                <a:solidFill>
                  <a:srgbClr val="66758A"/>
                </a:solidFill>
                <a:latin typeface="Apple SD Gothic Neo" pitchFamily="34" charset="0"/>
                <a:ea typeface="Apple SD Gothic Neo" pitchFamily="34" charset="-122"/>
                <a:cs typeface="Apple SD Gothic Neo" pitchFamily="34" charset="-120"/>
              </a:rPr>
              <a:t>전원·통신·watchdog 보완</a:t>
            </a:r>
            <a:endParaRPr lang="ko-KR" sz="940" dirty="0"/>
          </a:p>
        </p:txBody>
      </p:sp>
      <p:sp>
        <p:nvSpPr>
          <p:cNvPr id="34" name="Shape 30"/>
          <p:cNvSpPr/>
          <p:nvPr/>
        </p:nvSpPr>
        <p:spPr>
          <a:xfrm>
            <a:off x="8110728" y="4507992"/>
            <a:ext cx="0" cy="393192"/>
          </a:xfrm>
          <a:prstGeom prst="line">
            <a:avLst/>
          </a:prstGeom>
          <a:noFill/>
          <a:ln w="12700">
            <a:solidFill>
              <a:srgbClr val="DCE4ED"/>
            </a:solidFill>
            <a:prstDash val="solid"/>
          </a:ln>
        </p:spPr>
      </p:sp>
      <p:sp>
        <p:nvSpPr>
          <p:cNvPr id="35" name="Shape 31"/>
          <p:cNvSpPr/>
          <p:nvPr/>
        </p:nvSpPr>
        <p:spPr>
          <a:xfrm>
            <a:off x="7845552" y="4901184"/>
            <a:ext cx="530352" cy="530352"/>
          </a:xfrm>
          <a:prstGeom prst="roundRect">
            <a:avLst>
              <a:gd name="adj" fmla="val 17241"/>
            </a:avLst>
          </a:prstGeom>
          <a:solidFill>
            <a:srgbClr val="FFF5D9"/>
          </a:solidFill>
          <a:ln w="12700">
            <a:solidFill>
              <a:srgbClr val="FFF5D9">
                <a:alpha val="0"/>
              </a:srgbClr>
            </a:solidFill>
            <a:prstDash val="solid"/>
          </a:ln>
        </p:spPr>
      </p:sp>
      <p:sp>
        <p:nvSpPr>
          <p:cNvPr id="36" name="Text 32"/>
          <p:cNvSpPr/>
          <p:nvPr/>
        </p:nvSpPr>
        <p:spPr>
          <a:xfrm>
            <a:off x="7845552" y="5047488"/>
            <a:ext cx="530352" cy="173736"/>
          </a:xfrm>
          <a:prstGeom prst="rect">
            <a:avLst/>
          </a:prstGeom>
          <a:noFill/>
          <a:ln/>
        </p:spPr>
        <p:txBody>
          <a:bodyPr wrap="square" lIns="0" tIns="0" rIns="0" bIns="0" rtlCol="0" anchor="ctr">
            <a:normAutofit/>
          </a:bodyPr>
          <a:lstStyle/>
          <a:p>
            <a:pPr algn="ctr" indent="0" marL="0">
              <a:buNone/>
            </a:pPr>
            <a:r>
              <a:rPr lang="ko-KR" altLang="en-US" sz="1150" b="1" dirty="0">
                <a:solidFill>
                  <a:srgbClr val="946A00"/>
                </a:solidFill>
                <a:latin typeface="Apple SD Gothic Neo" pitchFamily="34" charset="0"/>
                <a:ea typeface="Apple SD Gothic Neo" pitchFamily="34" charset="-122"/>
                <a:cs typeface="Apple SD Gothic Neo" pitchFamily="34" charset="-120"/>
              </a:rPr>
              <a:t>03</a:t>
            </a:r>
            <a:endParaRPr lang="ko-KR" sz="1150" dirty="0"/>
          </a:p>
        </p:txBody>
      </p:sp>
      <p:sp>
        <p:nvSpPr>
          <p:cNvPr id="37" name="Text 33"/>
          <p:cNvSpPr/>
          <p:nvPr/>
        </p:nvSpPr>
        <p:spPr>
          <a:xfrm>
            <a:off x="8595360" y="4910328"/>
            <a:ext cx="2468880" cy="201168"/>
          </a:xfrm>
          <a:prstGeom prst="rect">
            <a:avLst/>
          </a:prstGeom>
          <a:noFill/>
          <a:ln/>
        </p:spPr>
        <p:txBody>
          <a:bodyPr wrap="square" lIns="0" tIns="0" rIns="0" bIns="0" rtlCol="0" anchor="ctr">
            <a:normAutofit/>
          </a:bodyPr>
          <a:lstStyle/>
          <a:p>
            <a:pPr indent="0" marL="0">
              <a:buNone/>
            </a:pPr>
            <a:r>
              <a:rPr lang="ko-KR" altLang="en-US" sz="1230" b="1" dirty="0">
                <a:solidFill>
                  <a:srgbClr val="0D2138"/>
                </a:solidFill>
                <a:latin typeface="Apple SD Gothic Neo" pitchFamily="34" charset="0"/>
                <a:ea typeface="Apple SD Gothic Neo" pitchFamily="34" charset="-122"/>
                <a:cs typeface="Apple SD Gothic Neo" pitchFamily="34" charset="-120"/>
              </a:rPr>
              <a:t>운영 검증</a:t>
            </a:r>
            <a:endParaRPr lang="ko-KR" sz="1230" dirty="0"/>
          </a:p>
        </p:txBody>
      </p:sp>
      <p:sp>
        <p:nvSpPr>
          <p:cNvPr id="38" name="Text 34"/>
          <p:cNvSpPr/>
          <p:nvPr/>
        </p:nvSpPr>
        <p:spPr>
          <a:xfrm>
            <a:off x="8595360" y="5184648"/>
            <a:ext cx="2606040" cy="384048"/>
          </a:xfrm>
          <a:prstGeom prst="rect">
            <a:avLst/>
          </a:prstGeom>
          <a:noFill/>
          <a:ln/>
        </p:spPr>
        <p:txBody>
          <a:bodyPr wrap="square" lIns="0" tIns="0" rIns="0" bIns="0" rtlCol="0" anchor="t">
            <a:normAutofit/>
          </a:bodyPr>
          <a:lstStyle/>
          <a:p>
            <a:pPr indent="0" marL="0">
              <a:buNone/>
            </a:pPr>
            <a:r>
              <a:rPr lang="ko-KR" altLang="en-US" sz="940" dirty="0">
                <a:solidFill>
                  <a:srgbClr val="66758A"/>
                </a:solidFill>
                <a:latin typeface="Apple SD Gothic Neo" pitchFamily="34" charset="0"/>
                <a:ea typeface="Apple SD Gothic Neo" pitchFamily="34" charset="-122"/>
                <a:cs typeface="Apple SD Gothic Neo" pitchFamily="34" charset="-120"/>
              </a:rPr>
              <a:t>장기 실증·유지보수</a:t>
            </a:r>
            <a:endParaRPr lang="ko-KR" sz="940" dirty="0"/>
          </a:p>
          <a:p>
            <a:pPr indent="0" marL="0">
              <a:buNone/>
            </a:pPr>
            <a:r>
              <a:rPr lang="ko-KR" altLang="en-US" sz="940" dirty="0">
                <a:solidFill>
                  <a:srgbClr val="66758A"/>
                </a:solidFill>
                <a:latin typeface="Apple SD Gothic Neo" pitchFamily="34" charset="0"/>
                <a:ea typeface="Apple SD Gothic Neo" pitchFamily="34" charset="-122"/>
                <a:cs typeface="Apple SD Gothic Neo" pitchFamily="34" charset="-120"/>
              </a:rPr>
              <a:t>제품 인증·양산성 검토</a:t>
            </a:r>
            <a:endParaRPr lang="ko-KR" sz="940" dirty="0"/>
          </a:p>
        </p:txBody>
      </p:sp>
      <p:sp>
        <p:nvSpPr>
          <p:cNvPr id="39" name="Shape 35"/>
          <p:cNvSpPr/>
          <p:nvPr/>
        </p:nvSpPr>
        <p:spPr>
          <a:xfrm>
            <a:off x="7845552" y="5724144"/>
            <a:ext cx="3438144" cy="384048"/>
          </a:xfrm>
          <a:prstGeom prst="roundRect">
            <a:avLst>
              <a:gd name="adj" fmla="val 23810"/>
            </a:avLst>
          </a:prstGeom>
          <a:solidFill>
            <a:srgbClr val="0D2138"/>
          </a:solidFill>
          <a:ln w="12700">
            <a:solidFill>
              <a:srgbClr val="0D2138">
                <a:alpha val="0"/>
              </a:srgbClr>
            </a:solidFill>
            <a:prstDash val="solid"/>
          </a:ln>
        </p:spPr>
      </p:sp>
      <p:sp>
        <p:nvSpPr>
          <p:cNvPr id="40" name="Text 36"/>
          <p:cNvSpPr/>
          <p:nvPr/>
        </p:nvSpPr>
        <p:spPr>
          <a:xfrm>
            <a:off x="7991856" y="5833872"/>
            <a:ext cx="3145536" cy="137160"/>
          </a:xfrm>
          <a:prstGeom prst="rect">
            <a:avLst/>
          </a:prstGeom>
          <a:noFill/>
          <a:ln/>
        </p:spPr>
        <p:txBody>
          <a:bodyPr wrap="square" lIns="0" tIns="0" rIns="0" bIns="0" rtlCol="0" anchor="ctr">
            <a:normAutofit/>
          </a:bodyPr>
          <a:lstStyle/>
          <a:p>
            <a:pPr algn="ctr" indent="0" marL="0">
              <a:buNone/>
            </a:pPr>
            <a:r>
              <a:rPr lang="ko-KR" altLang="en-US" sz="980" b="1" dirty="0">
                <a:solidFill>
                  <a:srgbClr val="FFFFFF"/>
                </a:solidFill>
                <a:latin typeface="Apple SD Gothic Neo" pitchFamily="34" charset="0"/>
                <a:ea typeface="Apple SD Gothic Neo" pitchFamily="34" charset="-122"/>
                <a:cs typeface="Apple SD Gothic Neo" pitchFamily="34" charset="-120"/>
              </a:rPr>
              <a:t>현재 모델링을 실제 현장형 제품으로 확장</a:t>
            </a:r>
            <a:endParaRPr lang="ko-KR" sz="980" dirty="0"/>
          </a:p>
        </p:txBody>
      </p:sp>
      <p:sp>
        <p:nvSpPr>
          <p:cNvPr id="41" name="Text 37"/>
          <p:cNvSpPr/>
          <p:nvPr/>
        </p:nvSpPr>
        <p:spPr>
          <a:xfrm>
            <a:off x="594360" y="6547104"/>
            <a:ext cx="5212080" cy="164592"/>
          </a:xfrm>
          <a:prstGeom prst="rect">
            <a:avLst/>
          </a:prstGeom>
          <a:noFill/>
          <a:ln/>
        </p:spPr>
        <p:txBody>
          <a:bodyPr wrap="square" lIns="0" tIns="0" rIns="0" bIns="0" rtlCol="0" anchor="ctr">
            <a:normAutofit/>
          </a:bodyPr>
          <a:lstStyle/>
          <a:p>
            <a:pPr indent="0" marL="0">
              <a:buNone/>
            </a:pPr>
            <a:r>
              <a:rPr lang="ko-KR" altLang="en-US" sz="1050" b="1" dirty="0">
                <a:solidFill>
                  <a:srgbClr val="2B77E5"/>
                </a:solidFill>
                <a:latin typeface="Apple SD Gothic Neo" pitchFamily="34" charset="0"/>
                <a:ea typeface="Apple SD Gothic Neo" pitchFamily="34" charset="-122"/>
                <a:cs typeface="Apple SD Gothic Neo" pitchFamily="34" charset="-120"/>
              </a:rPr>
              <a:t>탐지 가능한 장치  →  판단 가능한 시스템</a:t>
            </a:r>
            <a:endParaRPr lang="ko-KR" sz="1050" dirty="0"/>
          </a:p>
        </p:txBody>
      </p:sp>
      <p:sp>
        <p:nvSpPr>
          <p:cNvPr id="42" name="Text 38"/>
          <p:cNvSpPr/>
          <p:nvPr/>
        </p:nvSpPr>
        <p:spPr>
          <a:xfrm>
            <a:off x="7498080" y="6547104"/>
            <a:ext cx="4133088" cy="164592"/>
          </a:xfrm>
          <a:prstGeom prst="rect">
            <a:avLst/>
          </a:prstGeom>
          <a:noFill/>
          <a:ln/>
        </p:spPr>
        <p:txBody>
          <a:bodyPr wrap="square" lIns="0" tIns="0" rIns="0" bIns="0" rtlCol="0" anchor="ctr">
            <a:normAutofit/>
          </a:bodyPr>
          <a:lstStyle/>
          <a:p>
            <a:pPr algn="r" indent="0" marL="0">
              <a:buNone/>
            </a:pPr>
            <a:r>
              <a:rPr lang="ko-KR" altLang="en-US" sz="850" i="1" dirty="0">
                <a:solidFill>
                  <a:srgbClr val="9AA7B7"/>
                </a:solidFill>
                <a:latin typeface="Apple SD Gothic Neo" pitchFamily="34" charset="0"/>
                <a:ea typeface="Apple SD Gothic Neo" pitchFamily="34" charset="-122"/>
                <a:cs typeface="Apple SD Gothic Neo" pitchFamily="34" charset="-120"/>
              </a:rPr>
              <a:t>현재 모델링은 기능·장착 가능성 검증의 결과입니다.</a:t>
            </a:r>
            <a:endParaRPr lang="ko-KR"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 SD Gothic Ne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BEUM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비움 하드웨어: 시연형에서 제품형으로</dc:title>
  <dc:subject>비움 하드웨어 기획 의도, 현실적 한계, 고도화 로드맵</dc:subject>
  <dc:creator>BEUM</dc:creator>
  <cp:lastModifiedBy>BEUM</cp:lastModifiedBy>
  <cp:revision>1</cp:revision>
  <dcterms:created xsi:type="dcterms:W3CDTF">2026-09-05T17:02:28Z</dcterms:created>
  <dcterms:modified xsi:type="dcterms:W3CDTF">2026-09-05T17:02:28Z</dcterms:modified>
</cp:coreProperties>
</file>